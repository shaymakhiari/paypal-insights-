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eague Spartan" charset="1" panose="00000800000000000000"/>
      <p:regular r:id="rId30"/>
    </p:embeddedFont>
    <p:embeddedFont>
      <p:font typeface="Proxima Nova Bold" charset="1" panose="02000506030000020004"/>
      <p:regular r:id="rId31"/>
    </p:embeddedFont>
    <p:embeddedFont>
      <p:font typeface="Proxima Nova" charset="1" panose="02000506030000020004"/>
      <p:regular r:id="rId32"/>
    </p:embeddedFont>
    <p:embeddedFont>
      <p:font typeface="Object Sans Bold" charset="1" panose="00000300000000000000"/>
      <p:regular r:id="rId33"/>
    </p:embeddedFont>
    <p:embeddedFont>
      <p:font typeface="Helvetica World Bold" charset="1" panose="020B08000400000200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anva.com/design/DAG_ckVCgZw/0dg3ZjqYrwyWlnVcp46udw/edit?utm_content=DAG_ckVCgZw&amp;utm_campaign=designshare&amp;utm_medium=link2&amp;utm_source=sharebutto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anva.com/design/DAG_ckVCgZw/0dg3ZjqYrwyWlnVcp46udw/edit?utm_content=DAG_ckVCgZw&amp;utm_campaign=designshare&amp;utm_medium=link2&amp;utm_source=sharebutton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anva.com/design/DAG_ckVCgZw/0dg3ZjqYrwyWlnVcp46udw/edit?utm_content=DAG_ckVCgZw&amp;utm_campaign=designshare&amp;utm_medium=link2&amp;utm_source=sharebutton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canva.com/design/DAG_ckVCgZw/0dg3ZjqYrwyWlnVcp46udw/edit?utm_content=DAG_ckVCgZw&amp;utm_campaign=designshare&amp;utm_medium=link2&amp;utm_source=sharebutton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9090" y="1818413"/>
            <a:ext cx="7709821" cy="1052629"/>
            <a:chOff x="0" y="0"/>
            <a:chExt cx="10279761" cy="1403505"/>
          </a:xfrm>
        </p:grpSpPr>
        <p:sp>
          <p:nvSpPr>
            <p:cNvPr name="AutoShape 4" id="4"/>
            <p:cNvSpPr/>
            <p:nvPr/>
          </p:nvSpPr>
          <p:spPr>
            <a:xfrm>
              <a:off x="25400" y="0"/>
              <a:ext cx="0" cy="1182129"/>
            </a:xfrm>
            <a:prstGeom prst="line">
              <a:avLst/>
            </a:prstGeom>
            <a:ln cap="flat" w="50800">
              <a:solidFill>
                <a:srgbClr val="F2EC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252913" y="256271"/>
              <a:ext cx="10026848" cy="1147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80"/>
                </a:lnSpc>
                <a:spcBef>
                  <a:spcPct val="0"/>
                </a:spcBef>
              </a:pPr>
              <a:r>
                <a:rPr lang="en-US" sz="6400" spc="-320">
                  <a:solidFill>
                    <a:srgbClr val="F2ECE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PayPal insights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7264711" y="3656106"/>
            <a:ext cx="3310343" cy="6727445"/>
            <a:chOff x="0" y="0"/>
            <a:chExt cx="5001260" cy="10163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t="0" r="-4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33003" t="0" r="-3167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30794" y="3085242"/>
            <a:ext cx="592652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F2ECE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deep dive into world’s most popular payment app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19729"/>
            <a:ext cx="993293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: Shaima Khiari , Imen Saad , Roudayna Azizi , Achref Khaled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0421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880346" y="3163072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context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0346" y="8588085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modeling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0346" y="6011821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60168" y="4452896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deep dive dashboard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0346" y="4520772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0168" y="3163072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executive dashboard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0346" y="7378658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0168" y="5945146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insights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3399" y="228677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0346" y="7838220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0346" y="5129171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60168" y="3636921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3399" y="3636921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0168" y="2314361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43399" y="6562683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0168" y="5038725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-1770970" y="5413765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3661301" y="2419136"/>
            <a:ext cx="3310343" cy="6727445"/>
            <a:chOff x="0" y="0"/>
            <a:chExt cx="5001260" cy="101638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33003" t="0" r="-3167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760168" y="8513376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0168" y="7155677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limitations and future work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0168" y="7697401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0168" y="633970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4216" y="1009650"/>
            <a:ext cx="16230600" cy="0"/>
          </a:xfrm>
          <a:prstGeom prst="line">
            <a:avLst/>
          </a:prstGeom>
          <a:ln cap="flat" w="38100">
            <a:solidFill>
              <a:srgbClr val="04214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260528" y="4232125"/>
            <a:ext cx="3216738" cy="5026175"/>
            <a:chOff x="0" y="0"/>
            <a:chExt cx="635047" cy="99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47" cy="992265"/>
            </a:xfrm>
            <a:custGeom>
              <a:avLst/>
              <a:gdLst/>
              <a:ahLst/>
              <a:cxnLst/>
              <a:rect r="r" b="b" t="t" l="l"/>
              <a:pathLst>
                <a:path h="992265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2265"/>
                  </a:lnTo>
                  <a:lnTo>
                    <a:pt x="0" y="992265"/>
                  </a:lnTo>
                  <a:close/>
                </a:path>
              </a:pathLst>
            </a:custGeom>
            <a:blipFill>
              <a:blip r:embed="rId2"/>
              <a:stretch>
                <a:fillRect l="-28125" t="0" r="-2812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775994" y="4232125"/>
            <a:ext cx="3216738" cy="5031890"/>
            <a:chOff x="0" y="0"/>
            <a:chExt cx="635047" cy="993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3"/>
              <a:stretch>
                <a:fillRect l="-22652" t="0" r="-3377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91461" y="4232125"/>
            <a:ext cx="3216738" cy="5031890"/>
            <a:chOff x="0" y="0"/>
            <a:chExt cx="635047" cy="9933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4"/>
              <a:stretch>
                <a:fillRect l="-28214" t="0" r="-28214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219688" y="9763217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14216" y="474345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04415" y="4146400"/>
            <a:ext cx="4660837" cy="658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2983" spc="-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PayPal is a global digital payment platform that processes millions of transactions every day across different countries, payment methods, and merchant</a:t>
            </a:r>
          </a:p>
          <a:p>
            <a:pPr algn="l">
              <a:lnSpc>
                <a:spcPts val="4474"/>
              </a:lnSpc>
            </a:pPr>
            <a:r>
              <a:rPr lang="en-US" sz="2983" spc="-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categories.</a:t>
            </a:r>
          </a:p>
          <a:p>
            <a:pPr algn="l">
              <a:lnSpc>
                <a:spcPts val="4474"/>
              </a:lnSpc>
            </a:pPr>
          </a:p>
          <a:p>
            <a:pPr algn="l" marL="0" indent="0" lvl="0">
              <a:lnSpc>
                <a:spcPts val="447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2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-2494870" y="5876389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context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4216" y="1009650"/>
            <a:ext cx="16230600" cy="0"/>
          </a:xfrm>
          <a:prstGeom prst="line">
            <a:avLst/>
          </a:prstGeom>
          <a:ln cap="flat" w="38100">
            <a:solidFill>
              <a:srgbClr val="04214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260528" y="4232125"/>
            <a:ext cx="3216738" cy="5026175"/>
            <a:chOff x="0" y="0"/>
            <a:chExt cx="635047" cy="99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47" cy="992265"/>
            </a:xfrm>
            <a:custGeom>
              <a:avLst/>
              <a:gdLst/>
              <a:ahLst/>
              <a:cxnLst/>
              <a:rect r="r" b="b" t="t" l="l"/>
              <a:pathLst>
                <a:path h="992265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2265"/>
                  </a:lnTo>
                  <a:lnTo>
                    <a:pt x="0" y="992265"/>
                  </a:lnTo>
                  <a:close/>
                </a:path>
              </a:pathLst>
            </a:custGeom>
            <a:blipFill>
              <a:blip r:embed="rId2"/>
              <a:stretch>
                <a:fillRect l="-28125" t="0" r="-2812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775994" y="4232125"/>
            <a:ext cx="3216738" cy="5031890"/>
            <a:chOff x="0" y="0"/>
            <a:chExt cx="635047" cy="993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3"/>
              <a:stretch>
                <a:fillRect l="-22652" t="0" r="-3377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91461" y="4232125"/>
            <a:ext cx="3216738" cy="5031890"/>
            <a:chOff x="0" y="0"/>
            <a:chExt cx="635047" cy="9933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4"/>
              <a:stretch>
                <a:fillRect l="-28214" t="0" r="-28214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219688" y="9763217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14216" y="474345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2205" y="4192881"/>
            <a:ext cx="4813048" cy="520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1"/>
              </a:lnSpc>
              <a:spcBef>
                <a:spcPct val="0"/>
              </a:spcBef>
            </a:pPr>
            <a:r>
              <a:rPr lang="en-US" sz="3081" spc="-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such a highly competitive and risk-sensitive environment, PayPal must continuously monitor transaction performance, customer behavior, and fraud indicators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-2494870" y="5876389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context</a:t>
            </a:r>
          </a:p>
        </p:txBody>
      </p:sp>
    </p:spTree>
  </p:cSld>
  <p:clrMapOvr>
    <a:masterClrMapping/>
  </p:clrMapOvr>
  <p:transition spd="fast">
    <p:wipe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4216" y="1009650"/>
            <a:ext cx="16230600" cy="0"/>
          </a:xfrm>
          <a:prstGeom prst="line">
            <a:avLst/>
          </a:prstGeom>
          <a:ln cap="flat" w="38100">
            <a:solidFill>
              <a:srgbClr val="04214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260528" y="4232125"/>
            <a:ext cx="3216738" cy="5026175"/>
            <a:chOff x="0" y="0"/>
            <a:chExt cx="635047" cy="99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47" cy="992265"/>
            </a:xfrm>
            <a:custGeom>
              <a:avLst/>
              <a:gdLst/>
              <a:ahLst/>
              <a:cxnLst/>
              <a:rect r="r" b="b" t="t" l="l"/>
              <a:pathLst>
                <a:path h="992265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2265"/>
                  </a:lnTo>
                  <a:lnTo>
                    <a:pt x="0" y="992265"/>
                  </a:lnTo>
                  <a:close/>
                </a:path>
              </a:pathLst>
            </a:custGeom>
            <a:blipFill>
              <a:blip r:embed="rId2"/>
              <a:stretch>
                <a:fillRect l="-28125" t="0" r="-2812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775994" y="4232125"/>
            <a:ext cx="3216738" cy="5031890"/>
            <a:chOff x="0" y="0"/>
            <a:chExt cx="635047" cy="993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3"/>
              <a:stretch>
                <a:fillRect l="-22652" t="0" r="-3377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91461" y="4232125"/>
            <a:ext cx="3216738" cy="5031890"/>
            <a:chOff x="0" y="0"/>
            <a:chExt cx="635047" cy="9933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47" cy="993393"/>
            </a:xfrm>
            <a:custGeom>
              <a:avLst/>
              <a:gdLst/>
              <a:ahLst/>
              <a:cxnLst/>
              <a:rect r="r" b="b" t="t" l="l"/>
              <a:pathLst>
                <a:path h="993393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93393"/>
                  </a:lnTo>
                  <a:lnTo>
                    <a:pt x="0" y="993393"/>
                  </a:lnTo>
                  <a:close/>
                </a:path>
              </a:pathLst>
            </a:custGeom>
            <a:blipFill>
              <a:blip r:embed="rId4"/>
              <a:stretch>
                <a:fillRect l="-28214" t="0" r="-28214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219688" y="9763217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14216" y="474345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2205" y="4192881"/>
            <a:ext cx="4813048" cy="492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21"/>
              </a:lnSpc>
              <a:spcBef>
                <a:spcPct val="0"/>
              </a:spcBef>
            </a:pPr>
            <a:r>
              <a:rPr lang="en-US" sz="3281" spc="-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Intelligence plays a key role in transforming transaction data into actionable insights that support strategic and operational decision-making.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-2494870" y="5876389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context</a:t>
            </a:r>
          </a:p>
        </p:txBody>
      </p:sp>
    </p:spTree>
  </p:cSld>
  <p:clrMapOvr>
    <a:masterClrMapping/>
  </p:clrMapOvr>
  <p:transition spd="fast">
    <p:wipe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945063"/>
            <a:ext cx="95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913307" y="5090810"/>
            <a:ext cx="2932141" cy="4113341"/>
            <a:chOff x="0" y="0"/>
            <a:chExt cx="772251" cy="1083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251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2251">
                  <a:moveTo>
                    <a:pt x="0" y="0"/>
                  </a:moveTo>
                  <a:lnTo>
                    <a:pt x="772251" y="0"/>
                  </a:lnTo>
                  <a:lnTo>
                    <a:pt x="772251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72251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Detecting fraud risks early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00019" y="5090810"/>
            <a:ext cx="2864906" cy="4113341"/>
            <a:chOff x="0" y="0"/>
            <a:chExt cx="754543" cy="1083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4543" cy="1083349"/>
            </a:xfrm>
            <a:custGeom>
              <a:avLst/>
              <a:gdLst/>
              <a:ahLst/>
              <a:cxnLst/>
              <a:rect r="r" b="b" t="t" l="l"/>
              <a:pathLst>
                <a:path h="1083349" w="754543">
                  <a:moveTo>
                    <a:pt x="0" y="0"/>
                  </a:moveTo>
                  <a:lnTo>
                    <a:pt x="754543" y="0"/>
                  </a:lnTo>
                  <a:lnTo>
                    <a:pt x="754543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54543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Supporting data-driven business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02038" y="5090810"/>
            <a:ext cx="2946724" cy="4113341"/>
            <a:chOff x="0" y="0"/>
            <a:chExt cx="776092" cy="10833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6092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6092">
                  <a:moveTo>
                    <a:pt x="0" y="0"/>
                  </a:moveTo>
                  <a:lnTo>
                    <a:pt x="776092" y="0"/>
                  </a:lnTo>
                  <a:lnTo>
                    <a:pt x="776092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6092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Identifying revenue-generating markets and payment methods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5521" y="5144959"/>
            <a:ext cx="2909730" cy="4113341"/>
            <a:chOff x="0" y="0"/>
            <a:chExt cx="766349" cy="1083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6349" cy="1083349"/>
            </a:xfrm>
            <a:custGeom>
              <a:avLst/>
              <a:gdLst/>
              <a:ahLst/>
              <a:cxnLst/>
              <a:rect r="r" b="b" t="t" l="l"/>
              <a:pathLst>
                <a:path h="1083349" w="766349">
                  <a:moveTo>
                    <a:pt x="0" y="0"/>
                  </a:moveTo>
                  <a:lnTo>
                    <a:pt x="766349" y="0"/>
                  </a:lnTo>
                  <a:lnTo>
                    <a:pt x="766349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6349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Monitoring transaction performance in real time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95521" y="3517701"/>
            <a:ext cx="15243302" cy="12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  <a:hlinkClick r:id="rId2" tooltip="https://www.canva.com/design/DAG_ckVCgZw/0dg3ZjqYrwyWlnVcp46udw/edit?utm_content=DAG_ckVCgZw&amp;utm_campaign=designshare&amp;utm_medium=link2&amp;utm_source=sharebutton"/>
              </a:rPr>
              <a:t>Managing large volumes of digital payment transactions presents several challenges</a:t>
            </a: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</p:txBody>
      </p:sp>
    </p:spTree>
  </p:cSld>
  <p:clrMapOvr>
    <a:masterClrMapping/>
  </p:clrMapOvr>
  <p:transition spd="fast">
    <p:wipe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945063"/>
            <a:ext cx="95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913307" y="5090810"/>
            <a:ext cx="2932141" cy="4113341"/>
            <a:chOff x="0" y="0"/>
            <a:chExt cx="772251" cy="1083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251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2251">
                  <a:moveTo>
                    <a:pt x="0" y="0"/>
                  </a:moveTo>
                  <a:lnTo>
                    <a:pt x="772251" y="0"/>
                  </a:lnTo>
                  <a:lnTo>
                    <a:pt x="772251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72251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Detecting fraud risks early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00019" y="5090810"/>
            <a:ext cx="2864906" cy="4113341"/>
            <a:chOff x="0" y="0"/>
            <a:chExt cx="754543" cy="1083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4543" cy="1083349"/>
            </a:xfrm>
            <a:custGeom>
              <a:avLst/>
              <a:gdLst/>
              <a:ahLst/>
              <a:cxnLst/>
              <a:rect r="r" b="b" t="t" l="l"/>
              <a:pathLst>
                <a:path h="1083349" w="754543">
                  <a:moveTo>
                    <a:pt x="0" y="0"/>
                  </a:moveTo>
                  <a:lnTo>
                    <a:pt x="754543" y="0"/>
                  </a:lnTo>
                  <a:lnTo>
                    <a:pt x="754543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54543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Supporting data-driven business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02038" y="5090810"/>
            <a:ext cx="2946724" cy="4113341"/>
            <a:chOff x="0" y="0"/>
            <a:chExt cx="776092" cy="10833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6092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6092">
                  <a:moveTo>
                    <a:pt x="0" y="0"/>
                  </a:moveTo>
                  <a:lnTo>
                    <a:pt x="776092" y="0"/>
                  </a:lnTo>
                  <a:lnTo>
                    <a:pt x="776092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6092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Identifying revenue-generating markets and payment methods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5521" y="5144959"/>
            <a:ext cx="2909730" cy="4113341"/>
            <a:chOff x="0" y="0"/>
            <a:chExt cx="766349" cy="1083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6349" cy="1083349"/>
            </a:xfrm>
            <a:custGeom>
              <a:avLst/>
              <a:gdLst/>
              <a:ahLst/>
              <a:cxnLst/>
              <a:rect r="r" b="b" t="t" l="l"/>
              <a:pathLst>
                <a:path h="1083349" w="766349">
                  <a:moveTo>
                    <a:pt x="0" y="0"/>
                  </a:moveTo>
                  <a:lnTo>
                    <a:pt x="766349" y="0"/>
                  </a:lnTo>
                  <a:lnTo>
                    <a:pt x="766349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6349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Monitoring transaction performance in real time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95521" y="3517701"/>
            <a:ext cx="15243302" cy="12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  <a:hlinkClick r:id="rId2" tooltip="https://www.canva.com/design/DAG_ckVCgZw/0dg3ZjqYrwyWlnVcp46udw/edit?utm_content=DAG_ckVCgZw&amp;utm_campaign=designshare&amp;utm_medium=link2&amp;utm_source=sharebutton"/>
              </a:rPr>
              <a:t>Managing large volumes of digital payment transactions presents several challenges</a:t>
            </a: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945063"/>
            <a:ext cx="95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913307" y="5090810"/>
            <a:ext cx="2932141" cy="4113341"/>
            <a:chOff x="0" y="0"/>
            <a:chExt cx="772251" cy="1083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251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2251">
                  <a:moveTo>
                    <a:pt x="0" y="0"/>
                  </a:moveTo>
                  <a:lnTo>
                    <a:pt x="772251" y="0"/>
                  </a:lnTo>
                  <a:lnTo>
                    <a:pt x="772251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72251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Detecting fraud risks early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00019" y="5090810"/>
            <a:ext cx="2864906" cy="4113341"/>
            <a:chOff x="0" y="0"/>
            <a:chExt cx="754543" cy="1083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4543" cy="1083349"/>
            </a:xfrm>
            <a:custGeom>
              <a:avLst/>
              <a:gdLst/>
              <a:ahLst/>
              <a:cxnLst/>
              <a:rect r="r" b="b" t="t" l="l"/>
              <a:pathLst>
                <a:path h="1083349" w="754543">
                  <a:moveTo>
                    <a:pt x="0" y="0"/>
                  </a:moveTo>
                  <a:lnTo>
                    <a:pt x="754543" y="0"/>
                  </a:lnTo>
                  <a:lnTo>
                    <a:pt x="754543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54543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Supporting data-driven business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02038" y="5090810"/>
            <a:ext cx="2946724" cy="4113341"/>
            <a:chOff x="0" y="0"/>
            <a:chExt cx="776092" cy="10833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6092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6092">
                  <a:moveTo>
                    <a:pt x="0" y="0"/>
                  </a:moveTo>
                  <a:lnTo>
                    <a:pt x="776092" y="0"/>
                  </a:lnTo>
                  <a:lnTo>
                    <a:pt x="776092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6092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Identifying revenue-generating markets and payment methods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5521" y="5144959"/>
            <a:ext cx="2909730" cy="4113341"/>
            <a:chOff x="0" y="0"/>
            <a:chExt cx="766349" cy="1083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6349" cy="1083349"/>
            </a:xfrm>
            <a:custGeom>
              <a:avLst/>
              <a:gdLst/>
              <a:ahLst/>
              <a:cxnLst/>
              <a:rect r="r" b="b" t="t" l="l"/>
              <a:pathLst>
                <a:path h="1083349" w="766349">
                  <a:moveTo>
                    <a:pt x="0" y="0"/>
                  </a:moveTo>
                  <a:lnTo>
                    <a:pt x="766349" y="0"/>
                  </a:lnTo>
                  <a:lnTo>
                    <a:pt x="766349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6349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Monitoring transaction performance in real time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95521" y="3517701"/>
            <a:ext cx="15243302" cy="12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  <a:hlinkClick r:id="rId2" tooltip="https://www.canva.com/design/DAG_ckVCgZw/0dg3ZjqYrwyWlnVcp46udw/edit?utm_content=DAG_ckVCgZw&amp;utm_campaign=designshare&amp;utm_medium=link2&amp;utm_source=sharebutton"/>
              </a:rPr>
              <a:t>Managing large volumes of digital payment transactions presents several challenges</a:t>
            </a: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945063"/>
            <a:ext cx="952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913307" y="5090810"/>
            <a:ext cx="2932141" cy="4113341"/>
            <a:chOff x="0" y="0"/>
            <a:chExt cx="772251" cy="1083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251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2251">
                  <a:moveTo>
                    <a:pt x="0" y="0"/>
                  </a:moveTo>
                  <a:lnTo>
                    <a:pt x="772251" y="0"/>
                  </a:lnTo>
                  <a:lnTo>
                    <a:pt x="772251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72251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Detecting fraud risks early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00019" y="5090810"/>
            <a:ext cx="2864906" cy="4113341"/>
            <a:chOff x="0" y="0"/>
            <a:chExt cx="754543" cy="1083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4543" cy="1083349"/>
            </a:xfrm>
            <a:custGeom>
              <a:avLst/>
              <a:gdLst/>
              <a:ahLst/>
              <a:cxnLst/>
              <a:rect r="r" b="b" t="t" l="l"/>
              <a:pathLst>
                <a:path h="1083349" w="754543">
                  <a:moveTo>
                    <a:pt x="0" y="0"/>
                  </a:moveTo>
                  <a:lnTo>
                    <a:pt x="754543" y="0"/>
                  </a:lnTo>
                  <a:lnTo>
                    <a:pt x="754543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54543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Supporting data-driven business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02038" y="5090810"/>
            <a:ext cx="2946724" cy="4113341"/>
            <a:chOff x="0" y="0"/>
            <a:chExt cx="776092" cy="10833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6092" cy="1083349"/>
            </a:xfrm>
            <a:custGeom>
              <a:avLst/>
              <a:gdLst/>
              <a:ahLst/>
              <a:cxnLst/>
              <a:rect r="r" b="b" t="t" l="l"/>
              <a:pathLst>
                <a:path h="1083349" w="776092">
                  <a:moveTo>
                    <a:pt x="0" y="0"/>
                  </a:moveTo>
                  <a:lnTo>
                    <a:pt x="776092" y="0"/>
                  </a:lnTo>
                  <a:lnTo>
                    <a:pt x="776092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6092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Identifying revenue-generating markets and payment methods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5521" y="5144959"/>
            <a:ext cx="2909730" cy="4113341"/>
            <a:chOff x="0" y="0"/>
            <a:chExt cx="766349" cy="1083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6349" cy="1083349"/>
            </a:xfrm>
            <a:custGeom>
              <a:avLst/>
              <a:gdLst/>
              <a:ahLst/>
              <a:cxnLst/>
              <a:rect r="r" b="b" t="t" l="l"/>
              <a:pathLst>
                <a:path h="1083349" w="766349">
                  <a:moveTo>
                    <a:pt x="0" y="0"/>
                  </a:moveTo>
                  <a:lnTo>
                    <a:pt x="766349" y="0"/>
                  </a:lnTo>
                  <a:lnTo>
                    <a:pt x="766349" y="1083349"/>
                  </a:lnTo>
                  <a:lnTo>
                    <a:pt x="0" y="1083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6349" cy="113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>
                      <a:alpha val="23922"/>
                    </a:srgbClr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Monitoring transaction performance in real time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95521" y="3517701"/>
            <a:ext cx="15243302" cy="122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  <a:hlinkClick r:id="rId2" tooltip="https://www.canva.com/design/DAG_ckVCgZw/0dg3ZjqYrwyWlnVcp46udw/edit?utm_content=DAG_ckVCgZw&amp;utm_campaign=designshare&amp;utm_medium=link2&amp;utm_source=sharebutton"/>
              </a:rPr>
              <a:t>Managing large volumes of digital payment transactions presents several challenges</a:t>
            </a:r>
            <a:r>
              <a:rPr lang="en-US" sz="3561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AutoShape 4" id="4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31546" y="2885641"/>
            <a:ext cx="2571750" cy="2411095"/>
            <a:chOff x="0" y="0"/>
            <a:chExt cx="3429000" cy="32147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8875"/>
              <a:ext cx="34290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 spc="-54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Understand transaction behavior by time and geography.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2199121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959"/>
                </a:lnSpc>
                <a:spcBef>
                  <a:spcPct val="0"/>
                </a:spcBef>
              </a:pPr>
              <a:r>
                <a:rPr lang="en-US" sz="3299" spc="-98" strike="noStrike" u="none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31606" y="7070547"/>
            <a:ext cx="2571690" cy="2327910"/>
            <a:chOff x="0" y="0"/>
            <a:chExt cx="3428920" cy="31038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342892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Identify patterns in volume and revenue generation.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219907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96175" y="2815590"/>
            <a:ext cx="2571750" cy="2699385"/>
            <a:chOff x="0" y="0"/>
            <a:chExt cx="3429000" cy="359918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46175"/>
              <a:ext cx="3429000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Analyze customer interactions with different merchants and services.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219912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96295" y="7070493"/>
            <a:ext cx="2571750" cy="1956435"/>
            <a:chOff x="0" y="0"/>
            <a:chExt cx="3429000" cy="260858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46175"/>
              <a:ext cx="34290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Detect fraud trends associated with transaction sizes.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219912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69143" y="2618226"/>
            <a:ext cx="2571750" cy="2801620"/>
            <a:chOff x="0" y="0"/>
            <a:chExt cx="3429000" cy="373549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158875"/>
              <a:ext cx="3429000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 spc="-54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Provide actionable recommendations for business growth strategies.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0"/>
              <a:ext cx="2199121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959"/>
                </a:lnSpc>
                <a:spcBef>
                  <a:spcPct val="0"/>
                </a:spcBef>
              </a:pPr>
              <a:r>
                <a:rPr lang="en-US" sz="3299" spc="-98" strike="noStrike" u="none">
                  <a:solidFill>
                    <a:srgbClr val="0E0F1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31546" y="1990291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4122711" y="2299483"/>
            <a:ext cx="3310343" cy="6727445"/>
            <a:chOff x="0" y="0"/>
            <a:chExt cx="5001260" cy="10163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6"/>
              <a:stretch>
                <a:fillRect l="-45" t="0" r="-45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7"/>
              <a:stretch>
                <a:fillRect l="-33003" t="0" r="-3167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31606" y="6175576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496295" y="6175576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96175" y="1990291"/>
            <a:ext cx="819150" cy="446049"/>
            <a:chOff x="0" y="0"/>
            <a:chExt cx="1092200" cy="5947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169143" y="1990291"/>
            <a:ext cx="819150" cy="446049"/>
            <a:chOff x="0" y="0"/>
            <a:chExt cx="1092200" cy="5947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890742" y="1906800"/>
            <a:ext cx="5878008" cy="3220114"/>
            <a:chOff x="0" y="0"/>
            <a:chExt cx="1548117" cy="8480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8117" cy="848096"/>
            </a:xfrm>
            <a:custGeom>
              <a:avLst/>
              <a:gdLst/>
              <a:ahLst/>
              <a:cxnLst/>
              <a:rect r="r" b="b" t="t" l="l"/>
              <a:pathLst>
                <a:path h="848096" w="1548117">
                  <a:moveTo>
                    <a:pt x="0" y="0"/>
                  </a:moveTo>
                  <a:lnTo>
                    <a:pt x="1548117" y="0"/>
                  </a:lnTo>
                  <a:lnTo>
                    <a:pt x="1548117" y="848096"/>
                  </a:lnTo>
                  <a:lnTo>
                    <a:pt x="0" y="848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48117" cy="895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17617" y="5592851"/>
            <a:ext cx="5878008" cy="3481546"/>
            <a:chOff x="0" y="0"/>
            <a:chExt cx="1548117" cy="9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8117" cy="916951"/>
            </a:xfrm>
            <a:custGeom>
              <a:avLst/>
              <a:gdLst/>
              <a:ahLst/>
              <a:cxnLst/>
              <a:rect r="r" b="b" t="t" l="l"/>
              <a:pathLst>
                <a:path h="916951" w="1548117">
                  <a:moveTo>
                    <a:pt x="0" y="0"/>
                  </a:moveTo>
                  <a:lnTo>
                    <a:pt x="1548117" y="0"/>
                  </a:lnTo>
                  <a:lnTo>
                    <a:pt x="1548117" y="916951"/>
                  </a:lnTo>
                  <a:lnTo>
                    <a:pt x="0" y="916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48117" cy="9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890742" y="5592851"/>
            <a:ext cx="5878008" cy="3481546"/>
            <a:chOff x="0" y="0"/>
            <a:chExt cx="564535" cy="334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4535" cy="334374"/>
            </a:xfrm>
            <a:custGeom>
              <a:avLst/>
              <a:gdLst/>
              <a:ahLst/>
              <a:cxnLst/>
              <a:rect r="r" b="b" t="t" l="l"/>
              <a:pathLst>
                <a:path h="334374" w="564535">
                  <a:moveTo>
                    <a:pt x="0" y="0"/>
                  </a:moveTo>
                  <a:lnTo>
                    <a:pt x="564535" y="0"/>
                  </a:lnTo>
                  <a:lnTo>
                    <a:pt x="564535" y="334374"/>
                  </a:lnTo>
                  <a:lnTo>
                    <a:pt x="0" y="334374"/>
                  </a:lnTo>
                  <a:close/>
                </a:path>
              </a:pathLst>
            </a:custGeom>
            <a:blipFill>
              <a:blip r:embed="rId2"/>
              <a:stretch>
                <a:fillRect l="-2883" t="0" r="-288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17617" y="1906800"/>
            <a:ext cx="5878008" cy="3236700"/>
            <a:chOff x="0" y="0"/>
            <a:chExt cx="564535" cy="3108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535" cy="310859"/>
            </a:xfrm>
            <a:custGeom>
              <a:avLst/>
              <a:gdLst/>
              <a:ahLst/>
              <a:cxnLst/>
              <a:rect r="r" b="b" t="t" l="l"/>
              <a:pathLst>
                <a:path h="310859" w="564535">
                  <a:moveTo>
                    <a:pt x="0" y="0"/>
                  </a:moveTo>
                  <a:lnTo>
                    <a:pt x="564535" y="0"/>
                  </a:lnTo>
                  <a:lnTo>
                    <a:pt x="564535" y="310859"/>
                  </a:lnTo>
                  <a:lnTo>
                    <a:pt x="0" y="310859"/>
                  </a:lnTo>
                  <a:close/>
                </a:path>
              </a:pathLst>
            </a:custGeom>
            <a:blipFill>
              <a:blip r:embed="rId3"/>
              <a:stretch>
                <a:fillRect l="0" t="-10497" r="0" b="-1049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35555" y="2410052"/>
            <a:ext cx="4388383" cy="213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i="true" spc="-28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analysis is based on a simulated PayPal transaction dataset containing: 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174709" y="4847329"/>
            <a:ext cx="75704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overview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0562" y="5844549"/>
            <a:ext cx="5132119" cy="292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Transaction identifiers and timestamps 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transactions amount and fees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countries and merchant categories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890742" y="1906800"/>
            <a:ext cx="5878008" cy="3220114"/>
            <a:chOff x="0" y="0"/>
            <a:chExt cx="1548117" cy="8480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8117" cy="848096"/>
            </a:xfrm>
            <a:custGeom>
              <a:avLst/>
              <a:gdLst/>
              <a:ahLst/>
              <a:cxnLst/>
              <a:rect r="r" b="b" t="t" l="l"/>
              <a:pathLst>
                <a:path h="848096" w="1548117">
                  <a:moveTo>
                    <a:pt x="0" y="0"/>
                  </a:moveTo>
                  <a:lnTo>
                    <a:pt x="1548117" y="0"/>
                  </a:lnTo>
                  <a:lnTo>
                    <a:pt x="1548117" y="848096"/>
                  </a:lnTo>
                  <a:lnTo>
                    <a:pt x="0" y="8480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48117" cy="895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17617" y="5592851"/>
            <a:ext cx="5878008" cy="3481546"/>
            <a:chOff x="0" y="0"/>
            <a:chExt cx="1548117" cy="9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8117" cy="916951"/>
            </a:xfrm>
            <a:custGeom>
              <a:avLst/>
              <a:gdLst/>
              <a:ahLst/>
              <a:cxnLst/>
              <a:rect r="r" b="b" t="t" l="l"/>
              <a:pathLst>
                <a:path h="916951" w="1548117">
                  <a:moveTo>
                    <a:pt x="0" y="0"/>
                  </a:moveTo>
                  <a:lnTo>
                    <a:pt x="1548117" y="0"/>
                  </a:lnTo>
                  <a:lnTo>
                    <a:pt x="1548117" y="916951"/>
                  </a:lnTo>
                  <a:lnTo>
                    <a:pt x="0" y="9169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468D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48117" cy="9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317617" y="1906800"/>
            <a:ext cx="5878008" cy="3236700"/>
            <a:chOff x="0" y="0"/>
            <a:chExt cx="564535" cy="3108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4535" cy="310859"/>
            </a:xfrm>
            <a:custGeom>
              <a:avLst/>
              <a:gdLst/>
              <a:ahLst/>
              <a:cxnLst/>
              <a:rect r="r" b="b" t="t" l="l"/>
              <a:pathLst>
                <a:path h="310859" w="564535">
                  <a:moveTo>
                    <a:pt x="0" y="0"/>
                  </a:moveTo>
                  <a:lnTo>
                    <a:pt x="564535" y="0"/>
                  </a:lnTo>
                  <a:lnTo>
                    <a:pt x="564535" y="310859"/>
                  </a:lnTo>
                  <a:lnTo>
                    <a:pt x="0" y="310859"/>
                  </a:lnTo>
                  <a:close/>
                </a:path>
              </a:pathLst>
            </a:custGeom>
            <a:blipFill>
              <a:blip r:embed="rId2"/>
              <a:stretch>
                <a:fillRect l="0" t="-10497" r="0" b="-1049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5555" y="2410052"/>
            <a:ext cx="4388383" cy="213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i="true" spc="-28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analysis is based on a simulated PayPal transaction dataset containing: 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-2174709" y="4847329"/>
            <a:ext cx="75704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overview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25033" y="6474151"/>
            <a:ext cx="4863178" cy="16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methods  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transaction status 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fraud flag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890742" y="5592851"/>
            <a:ext cx="5878008" cy="3481546"/>
            <a:chOff x="0" y="0"/>
            <a:chExt cx="564535" cy="3343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4535" cy="334374"/>
            </a:xfrm>
            <a:custGeom>
              <a:avLst/>
              <a:gdLst/>
              <a:ahLst/>
              <a:cxnLst/>
              <a:rect r="r" b="b" t="t" l="l"/>
              <a:pathLst>
                <a:path h="334374" w="564535">
                  <a:moveTo>
                    <a:pt x="0" y="0"/>
                  </a:moveTo>
                  <a:lnTo>
                    <a:pt x="564535" y="0"/>
                  </a:lnTo>
                  <a:lnTo>
                    <a:pt x="564535" y="334374"/>
                  </a:lnTo>
                  <a:lnTo>
                    <a:pt x="0" y="334374"/>
                  </a:lnTo>
                  <a:close/>
                </a:path>
              </a:pathLst>
            </a:custGeom>
            <a:blipFill>
              <a:blip r:embed="rId3"/>
              <a:stretch>
                <a:fillRect l="-2883" t="0" r="-2883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600206" y="2895175"/>
            <a:ext cx="7704306" cy="5398851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3523606" y="2065026"/>
            <a:ext cx="2148415" cy="1930888"/>
          </a:xfrm>
          <a:custGeom>
            <a:avLst/>
            <a:gdLst/>
            <a:ahLst/>
            <a:cxnLst/>
            <a:rect r="r" b="b" t="t" l="l"/>
            <a:pathLst>
              <a:path h="1930888" w="2148415">
                <a:moveTo>
                  <a:pt x="0" y="0"/>
                </a:moveTo>
                <a:lnTo>
                  <a:pt x="2148416" y="0"/>
                </a:lnTo>
                <a:lnTo>
                  <a:pt x="2148416" y="1930888"/>
                </a:lnTo>
                <a:lnTo>
                  <a:pt x="0" y="1930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4461" y="4665244"/>
            <a:ext cx="2121212" cy="1858712"/>
          </a:xfrm>
          <a:custGeom>
            <a:avLst/>
            <a:gdLst/>
            <a:ahLst/>
            <a:cxnLst/>
            <a:rect r="r" b="b" t="t" l="l"/>
            <a:pathLst>
              <a:path h="1858712" w="2121212">
                <a:moveTo>
                  <a:pt x="0" y="0"/>
                </a:moveTo>
                <a:lnTo>
                  <a:pt x="2121212" y="0"/>
                </a:lnTo>
                <a:lnTo>
                  <a:pt x="2121212" y="1858712"/>
                </a:lnTo>
                <a:lnTo>
                  <a:pt x="0" y="1858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23606" y="7059498"/>
            <a:ext cx="1695502" cy="1877837"/>
          </a:xfrm>
          <a:custGeom>
            <a:avLst/>
            <a:gdLst/>
            <a:ahLst/>
            <a:cxnLst/>
            <a:rect r="r" b="b" t="t" l="l"/>
            <a:pathLst>
              <a:path h="1877837" w="1695502">
                <a:moveTo>
                  <a:pt x="0" y="0"/>
                </a:moveTo>
                <a:lnTo>
                  <a:pt x="1695503" y="0"/>
                </a:lnTo>
                <a:lnTo>
                  <a:pt x="1695503" y="1877837"/>
                </a:lnTo>
                <a:lnTo>
                  <a:pt x="0" y="18778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67372" y="2963795"/>
            <a:ext cx="444626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299" spc="-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Raw transaction data was collected in CSV format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97772" y="5212330"/>
            <a:ext cx="4446260" cy="20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Removed duplicates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Handled missing values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Standardized date and numerical formats</a:t>
            </a: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567372" y="7965407"/>
            <a:ext cx="444626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199" spc="-2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Cleaned data was loaded into Power BI for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67372" y="2547870"/>
            <a:ext cx="377666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Extract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7372" y="4770755"/>
            <a:ext cx="377666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Transform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7372" y="7453563"/>
            <a:ext cx="377666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Load</a:t>
            </a:r>
            <a:r>
              <a:rPr lang="en-US" sz="2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1560807" y="5413765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ETL process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064575" y="3061149"/>
            <a:ext cx="10518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4220324" y="3099249"/>
            <a:ext cx="4215969" cy="5417926"/>
            <a:chOff x="0" y="0"/>
            <a:chExt cx="969830" cy="1246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9830" cy="1246325"/>
            </a:xfrm>
            <a:custGeom>
              <a:avLst/>
              <a:gdLst/>
              <a:ahLst/>
              <a:cxnLst/>
              <a:rect r="r" b="b" t="t" l="l"/>
              <a:pathLst>
                <a:path h="1246325" w="969830">
                  <a:moveTo>
                    <a:pt x="93653" y="0"/>
                  </a:moveTo>
                  <a:lnTo>
                    <a:pt x="876177" y="0"/>
                  </a:lnTo>
                  <a:cubicBezTo>
                    <a:pt x="901015" y="0"/>
                    <a:pt x="924836" y="9867"/>
                    <a:pt x="942399" y="27430"/>
                  </a:cubicBezTo>
                  <a:cubicBezTo>
                    <a:pt x="959963" y="44994"/>
                    <a:pt x="969830" y="68815"/>
                    <a:pt x="969830" y="93653"/>
                  </a:cubicBezTo>
                  <a:lnTo>
                    <a:pt x="969830" y="1152672"/>
                  </a:lnTo>
                  <a:cubicBezTo>
                    <a:pt x="969830" y="1204395"/>
                    <a:pt x="927900" y="1246325"/>
                    <a:pt x="876177" y="1246325"/>
                  </a:cubicBezTo>
                  <a:lnTo>
                    <a:pt x="93653" y="1246325"/>
                  </a:lnTo>
                  <a:cubicBezTo>
                    <a:pt x="68815" y="1246325"/>
                    <a:pt x="44994" y="1236458"/>
                    <a:pt x="27430" y="1218894"/>
                  </a:cubicBezTo>
                  <a:cubicBezTo>
                    <a:pt x="9867" y="1201331"/>
                    <a:pt x="0" y="1177510"/>
                    <a:pt x="0" y="1152672"/>
                  </a:cubicBezTo>
                  <a:lnTo>
                    <a:pt x="0" y="93653"/>
                  </a:lnTo>
                  <a:cubicBezTo>
                    <a:pt x="0" y="68815"/>
                    <a:pt x="9867" y="44994"/>
                    <a:pt x="27430" y="27430"/>
                  </a:cubicBezTo>
                  <a:cubicBezTo>
                    <a:pt x="44994" y="9867"/>
                    <a:pt x="68815" y="0"/>
                    <a:pt x="93653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969830" cy="12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20324" y="5965095"/>
            <a:ext cx="4215969" cy="2552081"/>
            <a:chOff x="0" y="0"/>
            <a:chExt cx="969830" cy="5870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830" cy="587074"/>
            </a:xfrm>
            <a:custGeom>
              <a:avLst/>
              <a:gdLst/>
              <a:ahLst/>
              <a:cxnLst/>
              <a:rect r="r" b="b" t="t" l="l"/>
              <a:pathLst>
                <a:path h="587074" w="969830">
                  <a:moveTo>
                    <a:pt x="93653" y="0"/>
                  </a:moveTo>
                  <a:lnTo>
                    <a:pt x="876177" y="0"/>
                  </a:lnTo>
                  <a:cubicBezTo>
                    <a:pt x="901015" y="0"/>
                    <a:pt x="924836" y="9867"/>
                    <a:pt x="942399" y="27430"/>
                  </a:cubicBezTo>
                  <a:cubicBezTo>
                    <a:pt x="959963" y="44994"/>
                    <a:pt x="969830" y="68815"/>
                    <a:pt x="969830" y="93653"/>
                  </a:cubicBezTo>
                  <a:lnTo>
                    <a:pt x="969830" y="493421"/>
                  </a:lnTo>
                  <a:cubicBezTo>
                    <a:pt x="969830" y="545144"/>
                    <a:pt x="927900" y="587074"/>
                    <a:pt x="876177" y="587074"/>
                  </a:cubicBezTo>
                  <a:lnTo>
                    <a:pt x="93653" y="587074"/>
                  </a:lnTo>
                  <a:cubicBezTo>
                    <a:pt x="68815" y="587074"/>
                    <a:pt x="44994" y="577207"/>
                    <a:pt x="27430" y="559643"/>
                  </a:cubicBezTo>
                  <a:cubicBezTo>
                    <a:pt x="9867" y="542080"/>
                    <a:pt x="0" y="518259"/>
                    <a:pt x="0" y="493421"/>
                  </a:cubicBezTo>
                  <a:lnTo>
                    <a:pt x="0" y="93653"/>
                  </a:lnTo>
                  <a:cubicBezTo>
                    <a:pt x="0" y="68815"/>
                    <a:pt x="9867" y="44994"/>
                    <a:pt x="27430" y="27430"/>
                  </a:cubicBezTo>
                  <a:cubicBezTo>
                    <a:pt x="44994" y="9867"/>
                    <a:pt x="68815" y="0"/>
                    <a:pt x="93653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969830" cy="568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20324" y="3099249"/>
            <a:ext cx="3418415" cy="5417926"/>
            <a:chOff x="0" y="0"/>
            <a:chExt cx="786363" cy="12463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6363" cy="1246325"/>
            </a:xfrm>
            <a:custGeom>
              <a:avLst/>
              <a:gdLst/>
              <a:ahLst/>
              <a:cxnLst/>
              <a:rect r="r" b="b" t="t" l="l"/>
              <a:pathLst>
                <a:path h="1246325" w="786363">
                  <a:moveTo>
                    <a:pt x="106444" y="0"/>
                  </a:moveTo>
                  <a:lnTo>
                    <a:pt x="679919" y="0"/>
                  </a:lnTo>
                  <a:cubicBezTo>
                    <a:pt x="738706" y="0"/>
                    <a:pt x="786363" y="47657"/>
                    <a:pt x="786363" y="106444"/>
                  </a:cubicBezTo>
                  <a:lnTo>
                    <a:pt x="786363" y="1139880"/>
                  </a:lnTo>
                  <a:cubicBezTo>
                    <a:pt x="786363" y="1198668"/>
                    <a:pt x="738706" y="1246325"/>
                    <a:pt x="679919" y="1246325"/>
                  </a:cubicBezTo>
                  <a:lnTo>
                    <a:pt x="106444" y="1246325"/>
                  </a:lnTo>
                  <a:cubicBezTo>
                    <a:pt x="47657" y="1246325"/>
                    <a:pt x="0" y="1198668"/>
                    <a:pt x="0" y="1139880"/>
                  </a:cubicBezTo>
                  <a:lnTo>
                    <a:pt x="0" y="106444"/>
                  </a:lnTo>
                  <a:cubicBezTo>
                    <a:pt x="0" y="47657"/>
                    <a:pt x="47657" y="0"/>
                    <a:pt x="1064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786363" cy="12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49305" y="3599562"/>
            <a:ext cx="1097959" cy="109795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1334" y="3193520"/>
            <a:ext cx="4066341" cy="5225640"/>
            <a:chOff x="0" y="0"/>
            <a:chExt cx="969830" cy="12463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830" cy="1246325"/>
            </a:xfrm>
            <a:custGeom>
              <a:avLst/>
              <a:gdLst/>
              <a:ahLst/>
              <a:cxnLst/>
              <a:rect r="r" b="b" t="t" l="l"/>
              <a:pathLst>
                <a:path h="1246325" w="969830">
                  <a:moveTo>
                    <a:pt x="97099" y="0"/>
                  </a:moveTo>
                  <a:lnTo>
                    <a:pt x="872731" y="0"/>
                  </a:lnTo>
                  <a:cubicBezTo>
                    <a:pt x="898483" y="0"/>
                    <a:pt x="923180" y="10230"/>
                    <a:pt x="941390" y="28440"/>
                  </a:cubicBezTo>
                  <a:cubicBezTo>
                    <a:pt x="959600" y="46649"/>
                    <a:pt x="969830" y="71347"/>
                    <a:pt x="969830" y="97099"/>
                  </a:cubicBezTo>
                  <a:lnTo>
                    <a:pt x="969830" y="1149226"/>
                  </a:lnTo>
                  <a:cubicBezTo>
                    <a:pt x="969830" y="1202852"/>
                    <a:pt x="926357" y="1246325"/>
                    <a:pt x="872731" y="1246325"/>
                  </a:cubicBezTo>
                  <a:lnTo>
                    <a:pt x="97099" y="1246325"/>
                  </a:lnTo>
                  <a:cubicBezTo>
                    <a:pt x="71347" y="1246325"/>
                    <a:pt x="46649" y="1236095"/>
                    <a:pt x="28440" y="1217885"/>
                  </a:cubicBezTo>
                  <a:cubicBezTo>
                    <a:pt x="10230" y="1199675"/>
                    <a:pt x="0" y="1174978"/>
                    <a:pt x="0" y="1149226"/>
                  </a:cubicBezTo>
                  <a:lnTo>
                    <a:pt x="0" y="97099"/>
                  </a:lnTo>
                  <a:cubicBezTo>
                    <a:pt x="0" y="71347"/>
                    <a:pt x="10230" y="46649"/>
                    <a:pt x="28440" y="28440"/>
                  </a:cubicBezTo>
                  <a:cubicBezTo>
                    <a:pt x="46649" y="10230"/>
                    <a:pt x="71347" y="0"/>
                    <a:pt x="97099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969830" cy="12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01334" y="5957654"/>
            <a:ext cx="4066341" cy="2461506"/>
            <a:chOff x="0" y="0"/>
            <a:chExt cx="969830" cy="5870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830" cy="587074"/>
            </a:xfrm>
            <a:custGeom>
              <a:avLst/>
              <a:gdLst/>
              <a:ahLst/>
              <a:cxnLst/>
              <a:rect r="r" b="b" t="t" l="l"/>
              <a:pathLst>
                <a:path h="587074" w="969830">
                  <a:moveTo>
                    <a:pt x="97099" y="0"/>
                  </a:moveTo>
                  <a:lnTo>
                    <a:pt x="872731" y="0"/>
                  </a:lnTo>
                  <a:cubicBezTo>
                    <a:pt x="898483" y="0"/>
                    <a:pt x="923180" y="10230"/>
                    <a:pt x="941390" y="28440"/>
                  </a:cubicBezTo>
                  <a:cubicBezTo>
                    <a:pt x="959600" y="46649"/>
                    <a:pt x="969830" y="71347"/>
                    <a:pt x="969830" y="97099"/>
                  </a:cubicBezTo>
                  <a:lnTo>
                    <a:pt x="969830" y="489975"/>
                  </a:lnTo>
                  <a:cubicBezTo>
                    <a:pt x="969830" y="543601"/>
                    <a:pt x="926357" y="587074"/>
                    <a:pt x="872731" y="587074"/>
                  </a:cubicBezTo>
                  <a:lnTo>
                    <a:pt x="97099" y="587074"/>
                  </a:lnTo>
                  <a:cubicBezTo>
                    <a:pt x="71347" y="587074"/>
                    <a:pt x="46649" y="576844"/>
                    <a:pt x="28440" y="558634"/>
                  </a:cubicBezTo>
                  <a:cubicBezTo>
                    <a:pt x="10230" y="540424"/>
                    <a:pt x="0" y="515727"/>
                    <a:pt x="0" y="489975"/>
                  </a:cubicBezTo>
                  <a:lnTo>
                    <a:pt x="0" y="97099"/>
                  </a:lnTo>
                  <a:cubicBezTo>
                    <a:pt x="0" y="71347"/>
                    <a:pt x="10230" y="46649"/>
                    <a:pt x="28440" y="28440"/>
                  </a:cubicBezTo>
                  <a:cubicBezTo>
                    <a:pt x="46649" y="10230"/>
                    <a:pt x="71347" y="0"/>
                    <a:pt x="97099" y="0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969830" cy="568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91982" y="3193520"/>
            <a:ext cx="3297093" cy="5225640"/>
            <a:chOff x="0" y="0"/>
            <a:chExt cx="786363" cy="12463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363" cy="1246325"/>
            </a:xfrm>
            <a:custGeom>
              <a:avLst/>
              <a:gdLst/>
              <a:ahLst/>
              <a:cxnLst/>
              <a:rect r="r" b="b" t="t" l="l"/>
              <a:pathLst>
                <a:path h="1246325" w="786363">
                  <a:moveTo>
                    <a:pt x="110361" y="0"/>
                  </a:moveTo>
                  <a:lnTo>
                    <a:pt x="676002" y="0"/>
                  </a:lnTo>
                  <a:cubicBezTo>
                    <a:pt x="705271" y="0"/>
                    <a:pt x="733342" y="11627"/>
                    <a:pt x="754039" y="32324"/>
                  </a:cubicBezTo>
                  <a:cubicBezTo>
                    <a:pt x="774735" y="53021"/>
                    <a:pt x="786363" y="81091"/>
                    <a:pt x="786363" y="110361"/>
                  </a:cubicBezTo>
                  <a:lnTo>
                    <a:pt x="786363" y="1135964"/>
                  </a:lnTo>
                  <a:cubicBezTo>
                    <a:pt x="786363" y="1165233"/>
                    <a:pt x="774735" y="1193304"/>
                    <a:pt x="754039" y="1214001"/>
                  </a:cubicBezTo>
                  <a:cubicBezTo>
                    <a:pt x="733342" y="1234697"/>
                    <a:pt x="705271" y="1246325"/>
                    <a:pt x="676002" y="1246325"/>
                  </a:cubicBezTo>
                  <a:lnTo>
                    <a:pt x="110361" y="1246325"/>
                  </a:lnTo>
                  <a:cubicBezTo>
                    <a:pt x="81091" y="1246325"/>
                    <a:pt x="53021" y="1234697"/>
                    <a:pt x="32324" y="1214001"/>
                  </a:cubicBezTo>
                  <a:cubicBezTo>
                    <a:pt x="11627" y="1193304"/>
                    <a:pt x="0" y="1165233"/>
                    <a:pt x="0" y="1135964"/>
                  </a:cubicBezTo>
                  <a:lnTo>
                    <a:pt x="0" y="110361"/>
                  </a:lnTo>
                  <a:cubicBezTo>
                    <a:pt x="0" y="81091"/>
                    <a:pt x="11627" y="53021"/>
                    <a:pt x="32324" y="32324"/>
                  </a:cubicBezTo>
                  <a:cubicBezTo>
                    <a:pt x="53021" y="11627"/>
                    <a:pt x="81091" y="0"/>
                    <a:pt x="1103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786363" cy="12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22188" y="3676076"/>
            <a:ext cx="1058992" cy="105899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547348" y="3934069"/>
            <a:ext cx="901873" cy="410352"/>
          </a:xfrm>
          <a:custGeom>
            <a:avLst/>
            <a:gdLst/>
            <a:ahLst/>
            <a:cxnLst/>
            <a:rect r="r" b="b" t="t" l="l"/>
            <a:pathLst>
              <a:path h="410352" w="901873">
                <a:moveTo>
                  <a:pt x="0" y="0"/>
                </a:moveTo>
                <a:lnTo>
                  <a:pt x="901873" y="0"/>
                </a:lnTo>
                <a:lnTo>
                  <a:pt x="901873" y="410352"/>
                </a:lnTo>
                <a:lnTo>
                  <a:pt x="0" y="41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53793" y="3707681"/>
            <a:ext cx="995782" cy="995782"/>
          </a:xfrm>
          <a:custGeom>
            <a:avLst/>
            <a:gdLst/>
            <a:ahLst/>
            <a:cxnLst/>
            <a:rect r="r" b="b" t="t" l="l"/>
            <a:pathLst>
              <a:path h="995782" w="995782">
                <a:moveTo>
                  <a:pt x="0" y="0"/>
                </a:moveTo>
                <a:lnTo>
                  <a:pt x="995782" y="0"/>
                </a:lnTo>
                <a:lnTo>
                  <a:pt x="995782" y="995781"/>
                </a:lnTo>
                <a:lnTo>
                  <a:pt x="0" y="995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32" id="32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modeling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34010" y="1721033"/>
            <a:ext cx="15025290" cy="16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  <a:spcBef>
                <a:spcPct val="0"/>
              </a:spcBef>
            </a:pPr>
            <a:r>
              <a:rPr lang="en-US" sz="3096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dimensi</a:t>
            </a:r>
            <a:r>
              <a:rPr lang="en-US" b="true" sz="3096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onal star schema was designed to optimize analytical performance</a:t>
            </a:r>
          </a:p>
          <a:p>
            <a:pPr algn="l">
              <a:lnSpc>
                <a:spcPts val="4754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4623522" y="5536734"/>
            <a:ext cx="2592626" cy="38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33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 table: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96326" y="3953119"/>
            <a:ext cx="807250" cy="40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862" b="true">
                <a:solidFill>
                  <a:srgbClr val="FFFFFF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22435" y="6184562"/>
            <a:ext cx="2594800" cy="105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contains trasactions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22188" y="5344350"/>
            <a:ext cx="2500612" cy="4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dimensions: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57520" y="4017770"/>
            <a:ext cx="778600" cy="394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760" b="true">
                <a:solidFill>
                  <a:srgbClr val="FFFFFF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24498" y="6080011"/>
            <a:ext cx="3713364" cy="177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2679" indent="-307560" lvl="2">
              <a:lnSpc>
                <a:spcPts val="2991"/>
              </a:lnSpc>
              <a:buFont typeface="Arial"/>
              <a:buChar char="⚬"/>
            </a:pPr>
            <a:r>
              <a:rPr lang="en-US" sz="21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Date</a:t>
            </a:r>
          </a:p>
          <a:p>
            <a:pPr algn="l" marL="922679" indent="-307560" lvl="2">
              <a:lnSpc>
                <a:spcPts val="2991"/>
              </a:lnSpc>
              <a:buFont typeface="Arial"/>
              <a:buChar char="⚬"/>
            </a:pPr>
            <a:r>
              <a:rPr lang="en-US" sz="21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Coun</a:t>
            </a:r>
            <a:r>
              <a:rPr lang="en-US" sz="21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try</a:t>
            </a:r>
          </a:p>
          <a:p>
            <a:pPr algn="l" marL="922679" indent="-307560" lvl="2">
              <a:lnSpc>
                <a:spcPts val="2991"/>
              </a:lnSpc>
              <a:buFont typeface="Arial"/>
              <a:buChar char="⚬"/>
            </a:pPr>
            <a:r>
              <a:rPr lang="en-US" sz="21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Method</a:t>
            </a:r>
          </a:p>
          <a:p>
            <a:pPr algn="l" marL="922679" indent="-307560" lvl="2">
              <a:lnSpc>
                <a:spcPts val="2991"/>
              </a:lnSpc>
              <a:buFont typeface="Arial"/>
              <a:buChar char="⚬"/>
            </a:pPr>
            <a:r>
              <a:rPr lang="en-US" sz="21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Merchant Category</a:t>
            </a:r>
          </a:p>
          <a:p>
            <a:pPr algn="l">
              <a:lnSpc>
                <a:spcPts val="2164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2269079" y="8924434"/>
            <a:ext cx="1499022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struc</a:t>
            </a:r>
            <a:r>
              <a:rPr lang="en-US" b="true" sz="3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ture simplifies analysis and improves dashboard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90020" y="5598662"/>
            <a:ext cx="6437539" cy="41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5"/>
              </a:lnSpc>
              <a:spcBef>
                <a:spcPct val="0"/>
              </a:spcBef>
            </a:pPr>
            <a:r>
              <a:rPr lang="en-US" sz="3300" spc="-165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executive summary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8855" y="3919206"/>
            <a:ext cx="778600" cy="394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760" b="true">
                <a:solidFill>
                  <a:srgbClr val="FFFFFF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02</a:t>
            </a:r>
          </a:p>
        </p:txBody>
      </p:sp>
      <p:sp>
        <p:nvSpPr>
          <p:cNvPr name="AutoShape 7" id="7"/>
          <p:cNvSpPr/>
          <p:nvPr/>
        </p:nvSpPr>
        <p:spPr>
          <a:xfrm>
            <a:off x="4566137" y="4412423"/>
            <a:ext cx="0" cy="3178836"/>
          </a:xfrm>
          <a:prstGeom prst="line">
            <a:avLst/>
          </a:prstGeom>
          <a:ln cap="flat" w="142875">
            <a:solidFill>
              <a:srgbClr val="D2CE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321722" y="4931235"/>
            <a:ext cx="2491592" cy="2141212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468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526085" y="4436763"/>
            <a:ext cx="0" cy="3178836"/>
          </a:xfrm>
          <a:prstGeom prst="line">
            <a:avLst/>
          </a:prstGeom>
          <a:ln cap="flat" w="142875">
            <a:solidFill>
              <a:srgbClr val="D2CE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280289" y="4955575"/>
            <a:ext cx="2491592" cy="2141212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C2B7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4754085" y="4471021"/>
            <a:ext cx="0" cy="3178836"/>
          </a:xfrm>
          <a:prstGeom prst="line">
            <a:avLst/>
          </a:prstGeom>
          <a:ln cap="flat" w="142875">
            <a:solidFill>
              <a:srgbClr val="D2CE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509670" y="4989833"/>
            <a:ext cx="2491592" cy="2141212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468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19050"/>
              <a:ext cx="5842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73183" y="7524848"/>
            <a:ext cx="1988669" cy="132823"/>
            <a:chOff x="0" y="0"/>
            <a:chExt cx="523765" cy="349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765" cy="34982"/>
            </a:xfrm>
            <a:custGeom>
              <a:avLst/>
              <a:gdLst/>
              <a:ahLst/>
              <a:cxnLst/>
              <a:rect r="r" b="b" t="t" l="l"/>
              <a:pathLst>
                <a:path h="34982" w="523765">
                  <a:moveTo>
                    <a:pt x="17491" y="0"/>
                  </a:moveTo>
                  <a:lnTo>
                    <a:pt x="506274" y="0"/>
                  </a:lnTo>
                  <a:cubicBezTo>
                    <a:pt x="515934" y="0"/>
                    <a:pt x="523765" y="7831"/>
                    <a:pt x="523765" y="17491"/>
                  </a:cubicBezTo>
                  <a:lnTo>
                    <a:pt x="523765" y="17491"/>
                  </a:lnTo>
                  <a:cubicBezTo>
                    <a:pt x="523765" y="27151"/>
                    <a:pt x="515934" y="34982"/>
                    <a:pt x="506274" y="34982"/>
                  </a:cubicBezTo>
                  <a:lnTo>
                    <a:pt x="17491" y="34982"/>
                  </a:lnTo>
                  <a:cubicBezTo>
                    <a:pt x="7831" y="34982"/>
                    <a:pt x="0" y="27151"/>
                    <a:pt x="0" y="17491"/>
                  </a:cubicBezTo>
                  <a:lnTo>
                    <a:pt x="0" y="17491"/>
                  </a:lnTo>
                  <a:cubicBezTo>
                    <a:pt x="0" y="7831"/>
                    <a:pt x="7831" y="0"/>
                    <a:pt x="17491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523765" cy="15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31750" y="7549188"/>
            <a:ext cx="1988669" cy="132823"/>
            <a:chOff x="0" y="0"/>
            <a:chExt cx="523765" cy="349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765" cy="34982"/>
            </a:xfrm>
            <a:custGeom>
              <a:avLst/>
              <a:gdLst/>
              <a:ahLst/>
              <a:cxnLst/>
              <a:rect r="r" b="b" t="t" l="l"/>
              <a:pathLst>
                <a:path h="34982" w="523765">
                  <a:moveTo>
                    <a:pt x="17491" y="0"/>
                  </a:moveTo>
                  <a:lnTo>
                    <a:pt x="506274" y="0"/>
                  </a:lnTo>
                  <a:cubicBezTo>
                    <a:pt x="515934" y="0"/>
                    <a:pt x="523765" y="7831"/>
                    <a:pt x="523765" y="17491"/>
                  </a:cubicBezTo>
                  <a:lnTo>
                    <a:pt x="523765" y="17491"/>
                  </a:lnTo>
                  <a:cubicBezTo>
                    <a:pt x="523765" y="27151"/>
                    <a:pt x="515934" y="34982"/>
                    <a:pt x="506274" y="34982"/>
                  </a:cubicBezTo>
                  <a:lnTo>
                    <a:pt x="17491" y="34982"/>
                  </a:lnTo>
                  <a:cubicBezTo>
                    <a:pt x="7831" y="34982"/>
                    <a:pt x="0" y="27151"/>
                    <a:pt x="0" y="17491"/>
                  </a:cubicBezTo>
                  <a:lnTo>
                    <a:pt x="0" y="17491"/>
                  </a:lnTo>
                  <a:cubicBezTo>
                    <a:pt x="0" y="7831"/>
                    <a:pt x="7831" y="0"/>
                    <a:pt x="17491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523765" cy="15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61132" y="7583446"/>
            <a:ext cx="1988669" cy="132823"/>
            <a:chOff x="0" y="0"/>
            <a:chExt cx="523765" cy="349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3765" cy="34982"/>
            </a:xfrm>
            <a:custGeom>
              <a:avLst/>
              <a:gdLst/>
              <a:ahLst/>
              <a:cxnLst/>
              <a:rect r="r" b="b" t="t" l="l"/>
              <a:pathLst>
                <a:path h="34982" w="523765">
                  <a:moveTo>
                    <a:pt x="17491" y="0"/>
                  </a:moveTo>
                  <a:lnTo>
                    <a:pt x="506274" y="0"/>
                  </a:lnTo>
                  <a:cubicBezTo>
                    <a:pt x="515934" y="0"/>
                    <a:pt x="523765" y="7831"/>
                    <a:pt x="523765" y="17491"/>
                  </a:cubicBezTo>
                  <a:lnTo>
                    <a:pt x="523765" y="17491"/>
                  </a:lnTo>
                  <a:cubicBezTo>
                    <a:pt x="523765" y="27151"/>
                    <a:pt x="515934" y="34982"/>
                    <a:pt x="506274" y="34982"/>
                  </a:cubicBezTo>
                  <a:lnTo>
                    <a:pt x="17491" y="34982"/>
                  </a:lnTo>
                  <a:cubicBezTo>
                    <a:pt x="7831" y="34982"/>
                    <a:pt x="0" y="27151"/>
                    <a:pt x="0" y="17491"/>
                  </a:cubicBezTo>
                  <a:lnTo>
                    <a:pt x="0" y="17491"/>
                  </a:lnTo>
                  <a:cubicBezTo>
                    <a:pt x="0" y="7831"/>
                    <a:pt x="7831" y="0"/>
                    <a:pt x="17491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523765" cy="15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33948" y="1545391"/>
            <a:ext cx="16419716" cy="289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sz="2782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Executive Summary dashboard provides a high-level overview </a:t>
            </a:r>
            <a:r>
              <a:rPr lang="en-US" sz="2782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 PayPal’s transaction performance. This dashboard enables executives to quickly assess overall performance and trends. </a:t>
            </a:r>
          </a:p>
          <a:p>
            <a:pPr algn="l">
              <a:lnSpc>
                <a:spcPts val="3895"/>
              </a:lnSpc>
              <a:spcBef>
                <a:spcPct val="0"/>
              </a:spcBef>
            </a:pPr>
          </a:p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sz="2782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indicators include: </a:t>
            </a:r>
          </a:p>
          <a:p>
            <a:pPr algn="ctr">
              <a:lnSpc>
                <a:spcPts val="3895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321722" y="5761069"/>
            <a:ext cx="2491592" cy="52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 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70814" y="5855837"/>
            <a:ext cx="1796177" cy="52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0.03 %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09670" y="5855837"/>
            <a:ext cx="2491592" cy="52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8.1 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62341" y="7892201"/>
            <a:ext cx="2840589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number of transactions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61132" y="7892201"/>
            <a:ext cx="198894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volume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37346" y="7892201"/>
            <a:ext cx="146311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fraud rate</a:t>
            </a:r>
          </a:p>
        </p:txBody>
      </p:sp>
      <p:sp>
        <p:nvSpPr>
          <p:cNvPr name="AutoShape 35" id="35"/>
          <p:cNvSpPr/>
          <p:nvPr/>
        </p:nvSpPr>
        <p:spPr>
          <a:xfrm>
            <a:off x="2869725" y="4385296"/>
            <a:ext cx="13312718" cy="0"/>
          </a:xfrm>
          <a:prstGeom prst="line">
            <a:avLst/>
          </a:prstGeom>
          <a:ln cap="flat" w="142875">
            <a:solidFill>
              <a:srgbClr val="D2CEC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949024" y="3290857"/>
            <a:ext cx="3910371" cy="5468244"/>
            <a:chOff x="0" y="0"/>
            <a:chExt cx="1029892" cy="144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892" cy="1440196"/>
            </a:xfrm>
            <a:custGeom>
              <a:avLst/>
              <a:gdLst/>
              <a:ahLst/>
              <a:cxnLst/>
              <a:rect r="r" b="b" t="t" l="l"/>
              <a:pathLst>
                <a:path h="1440196" w="1029892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1396639"/>
                  </a:lnTo>
                  <a:cubicBezTo>
                    <a:pt x="1029892" y="1408191"/>
                    <a:pt x="1025303" y="1419270"/>
                    <a:pt x="1017135" y="1427438"/>
                  </a:cubicBezTo>
                  <a:cubicBezTo>
                    <a:pt x="1008966" y="1435607"/>
                    <a:pt x="997887" y="1440196"/>
                    <a:pt x="986336" y="1440196"/>
                  </a:cubicBezTo>
                  <a:lnTo>
                    <a:pt x="43557" y="1440196"/>
                  </a:lnTo>
                  <a:cubicBezTo>
                    <a:pt x="19501" y="1440196"/>
                    <a:pt x="0" y="1420695"/>
                    <a:pt x="0" y="1396639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29892" cy="148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8744" y="3290857"/>
            <a:ext cx="3910371" cy="5468244"/>
            <a:chOff x="0" y="0"/>
            <a:chExt cx="1029892" cy="1440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9892" cy="1440196"/>
            </a:xfrm>
            <a:custGeom>
              <a:avLst/>
              <a:gdLst/>
              <a:ahLst/>
              <a:cxnLst/>
              <a:rect r="r" b="b" t="t" l="l"/>
              <a:pathLst>
                <a:path h="1440196" w="1029892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1396639"/>
                  </a:lnTo>
                  <a:cubicBezTo>
                    <a:pt x="1029892" y="1408191"/>
                    <a:pt x="1025303" y="1419270"/>
                    <a:pt x="1017135" y="1427438"/>
                  </a:cubicBezTo>
                  <a:cubicBezTo>
                    <a:pt x="1008966" y="1435607"/>
                    <a:pt x="997887" y="1440196"/>
                    <a:pt x="986336" y="1440196"/>
                  </a:cubicBezTo>
                  <a:lnTo>
                    <a:pt x="43557" y="1440196"/>
                  </a:lnTo>
                  <a:cubicBezTo>
                    <a:pt x="19501" y="1440196"/>
                    <a:pt x="0" y="1420695"/>
                    <a:pt x="0" y="1396639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29892" cy="148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84015" y="3290857"/>
            <a:ext cx="3910371" cy="5468244"/>
            <a:chOff x="0" y="0"/>
            <a:chExt cx="1029892" cy="1440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9892" cy="1440196"/>
            </a:xfrm>
            <a:custGeom>
              <a:avLst/>
              <a:gdLst/>
              <a:ahLst/>
              <a:cxnLst/>
              <a:rect r="r" b="b" t="t" l="l"/>
              <a:pathLst>
                <a:path h="1440196" w="1029892">
                  <a:moveTo>
                    <a:pt x="43557" y="0"/>
                  </a:moveTo>
                  <a:lnTo>
                    <a:pt x="986336" y="0"/>
                  </a:lnTo>
                  <a:cubicBezTo>
                    <a:pt x="1010391" y="0"/>
                    <a:pt x="1029892" y="19501"/>
                    <a:pt x="1029892" y="43557"/>
                  </a:cubicBezTo>
                  <a:lnTo>
                    <a:pt x="1029892" y="1396639"/>
                  </a:lnTo>
                  <a:cubicBezTo>
                    <a:pt x="1029892" y="1408191"/>
                    <a:pt x="1025303" y="1419270"/>
                    <a:pt x="1017135" y="1427438"/>
                  </a:cubicBezTo>
                  <a:cubicBezTo>
                    <a:pt x="1008966" y="1435607"/>
                    <a:pt x="997887" y="1440196"/>
                    <a:pt x="986336" y="1440196"/>
                  </a:cubicBezTo>
                  <a:lnTo>
                    <a:pt x="43557" y="1440196"/>
                  </a:lnTo>
                  <a:cubicBezTo>
                    <a:pt x="19501" y="1440196"/>
                    <a:pt x="0" y="1420695"/>
                    <a:pt x="0" y="1396639"/>
                  </a:cubicBezTo>
                  <a:lnTo>
                    <a:pt x="0" y="43557"/>
                  </a:lnTo>
                  <a:cubicBezTo>
                    <a:pt x="0" y="19501"/>
                    <a:pt x="19501" y="0"/>
                    <a:pt x="43557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29892" cy="148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43198" y="6818411"/>
            <a:ext cx="2922023" cy="2439889"/>
          </a:xfrm>
          <a:custGeom>
            <a:avLst/>
            <a:gdLst/>
            <a:ahLst/>
            <a:cxnLst/>
            <a:rect r="r" b="b" t="t" l="l"/>
            <a:pathLst>
              <a:path h="2439889" w="2922023">
                <a:moveTo>
                  <a:pt x="0" y="0"/>
                </a:moveTo>
                <a:lnTo>
                  <a:pt x="2922023" y="0"/>
                </a:lnTo>
                <a:lnTo>
                  <a:pt x="2922023" y="2439889"/>
                </a:lnTo>
                <a:lnTo>
                  <a:pt x="0" y="243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18401" y="7050710"/>
            <a:ext cx="4540899" cy="1975291"/>
          </a:xfrm>
          <a:custGeom>
            <a:avLst/>
            <a:gdLst/>
            <a:ahLst/>
            <a:cxnLst/>
            <a:rect r="r" b="b" t="t" l="l"/>
            <a:pathLst>
              <a:path h="1975291" w="4540899">
                <a:moveTo>
                  <a:pt x="0" y="0"/>
                </a:moveTo>
                <a:lnTo>
                  <a:pt x="4540899" y="0"/>
                </a:lnTo>
                <a:lnTo>
                  <a:pt x="4540899" y="1975291"/>
                </a:lnTo>
                <a:lnTo>
                  <a:pt x="0" y="1975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55669" y="7250203"/>
            <a:ext cx="5336521" cy="1487555"/>
          </a:xfrm>
          <a:custGeom>
            <a:avLst/>
            <a:gdLst/>
            <a:ahLst/>
            <a:cxnLst/>
            <a:rect r="r" b="b" t="t" l="l"/>
            <a:pathLst>
              <a:path h="1487555" w="5336521">
                <a:moveTo>
                  <a:pt x="0" y="0"/>
                </a:moveTo>
                <a:lnTo>
                  <a:pt x="5336521" y="0"/>
                </a:lnTo>
                <a:lnTo>
                  <a:pt x="5336521" y="1487555"/>
                </a:lnTo>
                <a:lnTo>
                  <a:pt x="0" y="148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7" id="17"/>
          <p:cNvSpPr txBox="true"/>
          <p:nvPr/>
        </p:nvSpPr>
        <p:spPr>
          <a:xfrm rot="-5400000">
            <a:off x="-2174709" y="4847329"/>
            <a:ext cx="75704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deep dive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61321" y="4371511"/>
            <a:ext cx="2594425" cy="216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08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analyze transactions by payment method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02445" y="4371511"/>
            <a:ext cx="2780134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compare transaction values across countries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49024" y="1584103"/>
            <a:ext cx="17623926" cy="224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Deep Dive dashb</a:t>
            </a:r>
            <a:r>
              <a:rPr lang="en-US" sz="3159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oard focuses on detailed performance analysis.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 allows users to:</a:t>
            </a:r>
          </a:p>
          <a:p>
            <a:pPr algn="l">
              <a:lnSpc>
                <a:spcPts val="3863"/>
              </a:lnSpc>
              <a:spcBef>
                <a:spcPct val="0"/>
              </a:spcBef>
            </a:pPr>
          </a:p>
          <a:p>
            <a:pPr algn="l">
              <a:lnSpc>
                <a:spcPts val="5403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549134" y="4371883"/>
            <a:ext cx="2780134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identify patterns related to fraud 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70970" y="5503412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insights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6900290" y="4405009"/>
            <a:ext cx="0" cy="618299"/>
          </a:xfrm>
          <a:prstGeom prst="line">
            <a:avLst/>
          </a:prstGeom>
          <a:ln cap="rnd" w="66675">
            <a:solidFill>
              <a:srgbClr val="2468D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250988" y="4405009"/>
            <a:ext cx="0" cy="618299"/>
          </a:xfrm>
          <a:prstGeom prst="line">
            <a:avLst/>
          </a:prstGeom>
          <a:ln cap="rnd" w="66675">
            <a:solidFill>
              <a:srgbClr val="2468DB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631847" y="4896525"/>
            <a:ext cx="2536885" cy="2470406"/>
            <a:chOff x="0" y="0"/>
            <a:chExt cx="83467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00290" y="6131729"/>
            <a:ext cx="1268442" cy="1235203"/>
            <a:chOff x="0" y="0"/>
            <a:chExt cx="417336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417336">
                  <a:moveTo>
                    <a:pt x="0" y="0"/>
                  </a:moveTo>
                  <a:lnTo>
                    <a:pt x="417336" y="0"/>
                  </a:lnTo>
                  <a:lnTo>
                    <a:pt x="41733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17336" cy="387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462108" y="7314544"/>
            <a:ext cx="1221407" cy="0"/>
          </a:xfrm>
          <a:prstGeom prst="line">
            <a:avLst/>
          </a:prstGeom>
          <a:ln cap="flat" w="104775">
            <a:solidFill>
              <a:srgbClr val="2468D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5770441" y="5031487"/>
            <a:ext cx="2259697" cy="2200482"/>
            <a:chOff x="0" y="0"/>
            <a:chExt cx="83467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24993" y="3776907"/>
            <a:ext cx="2150594" cy="628102"/>
            <a:chOff x="0" y="0"/>
            <a:chExt cx="610599" cy="1783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0599" cy="178332"/>
            </a:xfrm>
            <a:custGeom>
              <a:avLst/>
              <a:gdLst/>
              <a:ahLst/>
              <a:cxnLst/>
              <a:rect r="r" b="b" t="t" l="l"/>
              <a:pathLst>
                <a:path h="178332" w="610599">
                  <a:moveTo>
                    <a:pt x="28799" y="0"/>
                  </a:moveTo>
                  <a:lnTo>
                    <a:pt x="581800" y="0"/>
                  </a:lnTo>
                  <a:cubicBezTo>
                    <a:pt x="589438" y="0"/>
                    <a:pt x="596763" y="3034"/>
                    <a:pt x="602164" y="8435"/>
                  </a:cubicBezTo>
                  <a:cubicBezTo>
                    <a:pt x="607565" y="13836"/>
                    <a:pt x="610599" y="21161"/>
                    <a:pt x="610599" y="28799"/>
                  </a:cubicBezTo>
                  <a:lnTo>
                    <a:pt x="610599" y="149532"/>
                  </a:lnTo>
                  <a:cubicBezTo>
                    <a:pt x="610599" y="157170"/>
                    <a:pt x="607565" y="164496"/>
                    <a:pt x="602164" y="169896"/>
                  </a:cubicBezTo>
                  <a:cubicBezTo>
                    <a:pt x="596763" y="175297"/>
                    <a:pt x="589438" y="178332"/>
                    <a:pt x="581800" y="178332"/>
                  </a:cubicBezTo>
                  <a:lnTo>
                    <a:pt x="28799" y="178332"/>
                  </a:lnTo>
                  <a:cubicBezTo>
                    <a:pt x="21161" y="178332"/>
                    <a:pt x="13836" y="175297"/>
                    <a:pt x="8435" y="169896"/>
                  </a:cubicBezTo>
                  <a:cubicBezTo>
                    <a:pt x="3034" y="164496"/>
                    <a:pt x="0" y="157170"/>
                    <a:pt x="0" y="149532"/>
                  </a:cubicBezTo>
                  <a:lnTo>
                    <a:pt x="0" y="28799"/>
                  </a:lnTo>
                  <a:cubicBezTo>
                    <a:pt x="0" y="21161"/>
                    <a:pt x="3034" y="13836"/>
                    <a:pt x="8435" y="8435"/>
                  </a:cubicBezTo>
                  <a:cubicBezTo>
                    <a:pt x="13836" y="3034"/>
                    <a:pt x="21161" y="0"/>
                    <a:pt x="28799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10599" cy="216432"/>
            </a:xfrm>
            <a:prstGeom prst="rect">
              <a:avLst/>
            </a:prstGeom>
          </p:spPr>
          <p:txBody>
            <a:bodyPr anchor="ctr" rtlCol="false" tIns="50504" lIns="50504" bIns="50504" rIns="50504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82545" y="4896525"/>
            <a:ext cx="2536885" cy="2470406"/>
            <a:chOff x="0" y="0"/>
            <a:chExt cx="834672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50988" y="6131729"/>
            <a:ext cx="1268442" cy="1235203"/>
            <a:chOff x="0" y="0"/>
            <a:chExt cx="417336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417336">
                  <a:moveTo>
                    <a:pt x="0" y="0"/>
                  </a:moveTo>
                  <a:lnTo>
                    <a:pt x="417336" y="0"/>
                  </a:lnTo>
                  <a:lnTo>
                    <a:pt x="41733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417336" cy="387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812806" y="7314544"/>
            <a:ext cx="1221407" cy="0"/>
          </a:xfrm>
          <a:prstGeom prst="line">
            <a:avLst/>
          </a:prstGeom>
          <a:ln cap="flat" w="104775">
            <a:solidFill>
              <a:srgbClr val="2468D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8" id="28"/>
          <p:cNvGrpSpPr/>
          <p:nvPr/>
        </p:nvGrpSpPr>
        <p:grpSpPr>
          <a:xfrm rot="0">
            <a:off x="12121139" y="5031487"/>
            <a:ext cx="2259697" cy="2200482"/>
            <a:chOff x="0" y="0"/>
            <a:chExt cx="834672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75691" y="3776907"/>
            <a:ext cx="2150594" cy="628102"/>
            <a:chOff x="0" y="0"/>
            <a:chExt cx="610599" cy="1783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0599" cy="178332"/>
            </a:xfrm>
            <a:custGeom>
              <a:avLst/>
              <a:gdLst/>
              <a:ahLst/>
              <a:cxnLst/>
              <a:rect r="r" b="b" t="t" l="l"/>
              <a:pathLst>
                <a:path h="178332" w="610599">
                  <a:moveTo>
                    <a:pt x="28799" y="0"/>
                  </a:moveTo>
                  <a:lnTo>
                    <a:pt x="581800" y="0"/>
                  </a:lnTo>
                  <a:cubicBezTo>
                    <a:pt x="589438" y="0"/>
                    <a:pt x="596763" y="3034"/>
                    <a:pt x="602164" y="8435"/>
                  </a:cubicBezTo>
                  <a:cubicBezTo>
                    <a:pt x="607565" y="13836"/>
                    <a:pt x="610599" y="21161"/>
                    <a:pt x="610599" y="28799"/>
                  </a:cubicBezTo>
                  <a:lnTo>
                    <a:pt x="610599" y="149532"/>
                  </a:lnTo>
                  <a:cubicBezTo>
                    <a:pt x="610599" y="157170"/>
                    <a:pt x="607565" y="164496"/>
                    <a:pt x="602164" y="169896"/>
                  </a:cubicBezTo>
                  <a:cubicBezTo>
                    <a:pt x="596763" y="175297"/>
                    <a:pt x="589438" y="178332"/>
                    <a:pt x="581800" y="178332"/>
                  </a:cubicBezTo>
                  <a:lnTo>
                    <a:pt x="28799" y="178332"/>
                  </a:lnTo>
                  <a:cubicBezTo>
                    <a:pt x="21161" y="178332"/>
                    <a:pt x="13836" y="175297"/>
                    <a:pt x="8435" y="169896"/>
                  </a:cubicBezTo>
                  <a:cubicBezTo>
                    <a:pt x="3034" y="164496"/>
                    <a:pt x="0" y="157170"/>
                    <a:pt x="0" y="149532"/>
                  </a:cubicBezTo>
                  <a:lnTo>
                    <a:pt x="0" y="28799"/>
                  </a:lnTo>
                  <a:cubicBezTo>
                    <a:pt x="0" y="21161"/>
                    <a:pt x="3034" y="13836"/>
                    <a:pt x="8435" y="8435"/>
                  </a:cubicBezTo>
                  <a:cubicBezTo>
                    <a:pt x="13836" y="3034"/>
                    <a:pt x="21161" y="0"/>
                    <a:pt x="28799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10599" cy="216432"/>
            </a:xfrm>
            <a:prstGeom prst="rect">
              <a:avLst/>
            </a:prstGeom>
          </p:spPr>
          <p:txBody>
            <a:bodyPr anchor="ctr" rtlCol="false" tIns="50504" lIns="50504" bIns="50504" rIns="50504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04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3824243" y="6065059"/>
            <a:ext cx="0" cy="595939"/>
          </a:xfrm>
          <a:prstGeom prst="line">
            <a:avLst/>
          </a:prstGeom>
          <a:ln cap="rnd" w="66675">
            <a:solidFill>
              <a:srgbClr val="2468DB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2555801" y="6556576"/>
            <a:ext cx="2536885" cy="2470406"/>
            <a:chOff x="0" y="0"/>
            <a:chExt cx="834672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824243" y="7791779"/>
            <a:ext cx="1268442" cy="1235203"/>
            <a:chOff x="0" y="0"/>
            <a:chExt cx="417336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417336">
                  <a:moveTo>
                    <a:pt x="0" y="0"/>
                  </a:moveTo>
                  <a:lnTo>
                    <a:pt x="417336" y="0"/>
                  </a:lnTo>
                  <a:lnTo>
                    <a:pt x="41733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19050"/>
              <a:ext cx="417336" cy="387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41" id="41"/>
          <p:cNvSpPr/>
          <p:nvPr/>
        </p:nvSpPr>
        <p:spPr>
          <a:xfrm>
            <a:off x="4386062" y="8974594"/>
            <a:ext cx="1221407" cy="0"/>
          </a:xfrm>
          <a:prstGeom prst="line">
            <a:avLst/>
          </a:prstGeom>
          <a:ln cap="flat" w="104775">
            <a:solidFill>
              <a:srgbClr val="2468D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2694395" y="6691538"/>
            <a:ext cx="2259697" cy="2200482"/>
            <a:chOff x="0" y="0"/>
            <a:chExt cx="834672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748946" y="5436957"/>
            <a:ext cx="2150594" cy="628102"/>
            <a:chOff x="0" y="0"/>
            <a:chExt cx="610599" cy="1783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0599" cy="178332"/>
            </a:xfrm>
            <a:custGeom>
              <a:avLst/>
              <a:gdLst/>
              <a:ahLst/>
              <a:cxnLst/>
              <a:rect r="r" b="b" t="t" l="l"/>
              <a:pathLst>
                <a:path h="178332" w="610599">
                  <a:moveTo>
                    <a:pt x="28799" y="0"/>
                  </a:moveTo>
                  <a:lnTo>
                    <a:pt x="581800" y="0"/>
                  </a:lnTo>
                  <a:cubicBezTo>
                    <a:pt x="589438" y="0"/>
                    <a:pt x="596763" y="3034"/>
                    <a:pt x="602164" y="8435"/>
                  </a:cubicBezTo>
                  <a:cubicBezTo>
                    <a:pt x="607565" y="13836"/>
                    <a:pt x="610599" y="21161"/>
                    <a:pt x="610599" y="28799"/>
                  </a:cubicBezTo>
                  <a:lnTo>
                    <a:pt x="610599" y="149532"/>
                  </a:lnTo>
                  <a:cubicBezTo>
                    <a:pt x="610599" y="157170"/>
                    <a:pt x="607565" y="164496"/>
                    <a:pt x="602164" y="169896"/>
                  </a:cubicBezTo>
                  <a:cubicBezTo>
                    <a:pt x="596763" y="175297"/>
                    <a:pt x="589438" y="178332"/>
                    <a:pt x="581800" y="178332"/>
                  </a:cubicBezTo>
                  <a:lnTo>
                    <a:pt x="28799" y="178332"/>
                  </a:lnTo>
                  <a:cubicBezTo>
                    <a:pt x="21161" y="178332"/>
                    <a:pt x="13836" y="175297"/>
                    <a:pt x="8435" y="169896"/>
                  </a:cubicBezTo>
                  <a:cubicBezTo>
                    <a:pt x="3034" y="164496"/>
                    <a:pt x="0" y="157170"/>
                    <a:pt x="0" y="149532"/>
                  </a:cubicBezTo>
                  <a:lnTo>
                    <a:pt x="0" y="28799"/>
                  </a:lnTo>
                  <a:cubicBezTo>
                    <a:pt x="0" y="21161"/>
                    <a:pt x="3034" y="13836"/>
                    <a:pt x="8435" y="8435"/>
                  </a:cubicBezTo>
                  <a:cubicBezTo>
                    <a:pt x="13836" y="3034"/>
                    <a:pt x="21161" y="0"/>
                    <a:pt x="28799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10599" cy="206907"/>
            </a:xfrm>
            <a:prstGeom prst="rect">
              <a:avLst/>
            </a:prstGeom>
          </p:spPr>
          <p:txBody>
            <a:bodyPr anchor="ctr" rtlCol="false" tIns="50504" lIns="50504" bIns="50504" rIns="50504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889857" y="7071225"/>
            <a:ext cx="192284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Frau</a:t>
            </a:r>
            <a:r>
              <a:rPr lang="en-US" sz="1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 rates are similar across countries, with no major outliers.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66402" y="5408382"/>
            <a:ext cx="1922840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PayPa</a:t>
            </a:r>
            <a:r>
              <a:rPr lang="en-US" sz="1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 Balance is the riskiest payment method; bank transfers are the safest.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174941" y="6065059"/>
            <a:ext cx="0" cy="626478"/>
          </a:xfrm>
          <a:prstGeom prst="line">
            <a:avLst/>
          </a:prstGeom>
          <a:ln cap="rnd" w="66675">
            <a:solidFill>
              <a:srgbClr val="2468DB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8906499" y="6556576"/>
            <a:ext cx="2536885" cy="2470406"/>
            <a:chOff x="0" y="0"/>
            <a:chExt cx="834672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174941" y="7791779"/>
            <a:ext cx="1268442" cy="1235203"/>
            <a:chOff x="0" y="0"/>
            <a:chExt cx="417336" cy="406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417336">
                  <a:moveTo>
                    <a:pt x="0" y="0"/>
                  </a:moveTo>
                  <a:lnTo>
                    <a:pt x="417336" y="0"/>
                  </a:lnTo>
                  <a:lnTo>
                    <a:pt x="41733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19050"/>
              <a:ext cx="417336" cy="387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57" id="57"/>
          <p:cNvSpPr/>
          <p:nvPr/>
        </p:nvSpPr>
        <p:spPr>
          <a:xfrm>
            <a:off x="10736760" y="8974594"/>
            <a:ext cx="1221407" cy="0"/>
          </a:xfrm>
          <a:prstGeom prst="line">
            <a:avLst/>
          </a:prstGeom>
          <a:ln cap="flat" w="104775">
            <a:solidFill>
              <a:srgbClr val="2468D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8" id="58"/>
          <p:cNvGrpSpPr/>
          <p:nvPr/>
        </p:nvGrpSpPr>
        <p:grpSpPr>
          <a:xfrm rot="0">
            <a:off x="9045093" y="6691538"/>
            <a:ext cx="2259697" cy="2200482"/>
            <a:chOff x="0" y="0"/>
            <a:chExt cx="834672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099644" y="5436957"/>
            <a:ext cx="2150594" cy="628102"/>
            <a:chOff x="0" y="0"/>
            <a:chExt cx="610599" cy="1783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0599" cy="178332"/>
            </a:xfrm>
            <a:custGeom>
              <a:avLst/>
              <a:gdLst/>
              <a:ahLst/>
              <a:cxnLst/>
              <a:rect r="r" b="b" t="t" l="l"/>
              <a:pathLst>
                <a:path h="178332" w="610599">
                  <a:moveTo>
                    <a:pt x="28799" y="0"/>
                  </a:moveTo>
                  <a:lnTo>
                    <a:pt x="581800" y="0"/>
                  </a:lnTo>
                  <a:cubicBezTo>
                    <a:pt x="589438" y="0"/>
                    <a:pt x="596763" y="3034"/>
                    <a:pt x="602164" y="8435"/>
                  </a:cubicBezTo>
                  <a:cubicBezTo>
                    <a:pt x="607565" y="13836"/>
                    <a:pt x="610599" y="21161"/>
                    <a:pt x="610599" y="28799"/>
                  </a:cubicBezTo>
                  <a:lnTo>
                    <a:pt x="610599" y="149532"/>
                  </a:lnTo>
                  <a:cubicBezTo>
                    <a:pt x="610599" y="157170"/>
                    <a:pt x="607565" y="164496"/>
                    <a:pt x="602164" y="169896"/>
                  </a:cubicBezTo>
                  <a:cubicBezTo>
                    <a:pt x="596763" y="175297"/>
                    <a:pt x="589438" y="178332"/>
                    <a:pt x="581800" y="178332"/>
                  </a:cubicBezTo>
                  <a:lnTo>
                    <a:pt x="28799" y="178332"/>
                  </a:lnTo>
                  <a:cubicBezTo>
                    <a:pt x="21161" y="178332"/>
                    <a:pt x="13836" y="175297"/>
                    <a:pt x="8435" y="169896"/>
                  </a:cubicBezTo>
                  <a:cubicBezTo>
                    <a:pt x="3034" y="164496"/>
                    <a:pt x="0" y="157170"/>
                    <a:pt x="0" y="149532"/>
                  </a:cubicBezTo>
                  <a:lnTo>
                    <a:pt x="0" y="28799"/>
                  </a:lnTo>
                  <a:cubicBezTo>
                    <a:pt x="0" y="21161"/>
                    <a:pt x="3034" y="13836"/>
                    <a:pt x="8435" y="8435"/>
                  </a:cubicBezTo>
                  <a:cubicBezTo>
                    <a:pt x="13836" y="3034"/>
                    <a:pt x="21161" y="0"/>
                    <a:pt x="28799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10599" cy="216432"/>
            </a:xfrm>
            <a:prstGeom prst="rect">
              <a:avLst/>
            </a:prstGeom>
          </p:spPr>
          <p:txBody>
            <a:bodyPr anchor="ctr" rtlCol="false" tIns="50504" lIns="50504" bIns="50504" rIns="50504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03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381949" y="6914062"/>
            <a:ext cx="1922840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Most transact</a:t>
            </a:r>
            <a:r>
              <a:rPr lang="en-US" sz="1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ions are successful; failures and refunds are limited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289567" y="5537287"/>
            <a:ext cx="192284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Transaction volumes are stable across months</a:t>
            </a:r>
          </a:p>
        </p:txBody>
      </p:sp>
      <p:sp>
        <p:nvSpPr>
          <p:cNvPr name="AutoShape 66" id="66"/>
          <p:cNvSpPr/>
          <p:nvPr/>
        </p:nvSpPr>
        <p:spPr>
          <a:xfrm>
            <a:off x="16636031" y="6065059"/>
            <a:ext cx="0" cy="618299"/>
          </a:xfrm>
          <a:prstGeom prst="line">
            <a:avLst/>
          </a:prstGeom>
          <a:ln cap="rnd" w="66675">
            <a:solidFill>
              <a:srgbClr val="2468DB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5367588" y="6556576"/>
            <a:ext cx="2536885" cy="2470406"/>
            <a:chOff x="0" y="0"/>
            <a:chExt cx="834672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636031" y="7739391"/>
            <a:ext cx="1268442" cy="1235203"/>
            <a:chOff x="0" y="0"/>
            <a:chExt cx="417336" cy="406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417336">
                  <a:moveTo>
                    <a:pt x="0" y="0"/>
                  </a:moveTo>
                  <a:lnTo>
                    <a:pt x="417336" y="0"/>
                  </a:lnTo>
                  <a:lnTo>
                    <a:pt x="41733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19050"/>
              <a:ext cx="417336" cy="387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AutoShape 73" id="73"/>
          <p:cNvSpPr/>
          <p:nvPr/>
        </p:nvSpPr>
        <p:spPr>
          <a:xfrm>
            <a:off x="17100624" y="8922207"/>
            <a:ext cx="1221407" cy="0"/>
          </a:xfrm>
          <a:prstGeom prst="line">
            <a:avLst/>
          </a:prstGeom>
          <a:ln cap="flat" w="104775">
            <a:solidFill>
              <a:srgbClr val="2468D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4" id="74"/>
          <p:cNvGrpSpPr/>
          <p:nvPr/>
        </p:nvGrpSpPr>
        <p:grpSpPr>
          <a:xfrm rot="0">
            <a:off x="15506182" y="6691538"/>
            <a:ext cx="2259697" cy="2200482"/>
            <a:chOff x="0" y="0"/>
            <a:chExt cx="834672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34672" cy="812800"/>
            </a:xfrm>
            <a:custGeom>
              <a:avLst/>
              <a:gdLst/>
              <a:ahLst/>
              <a:cxnLst/>
              <a:rect r="r" b="b" t="t" l="l"/>
              <a:pathLst>
                <a:path h="812800" w="834672">
                  <a:moveTo>
                    <a:pt x="417336" y="0"/>
                  </a:moveTo>
                  <a:cubicBezTo>
                    <a:pt x="186848" y="0"/>
                    <a:pt x="0" y="181951"/>
                    <a:pt x="0" y="406400"/>
                  </a:cubicBezTo>
                  <a:cubicBezTo>
                    <a:pt x="0" y="630849"/>
                    <a:pt x="186848" y="812800"/>
                    <a:pt x="417336" y="812800"/>
                  </a:cubicBezTo>
                  <a:cubicBezTo>
                    <a:pt x="647825" y="812800"/>
                    <a:pt x="834672" y="630849"/>
                    <a:pt x="834672" y="406400"/>
                  </a:cubicBezTo>
                  <a:cubicBezTo>
                    <a:pt x="834672" y="181951"/>
                    <a:pt x="647825" y="0"/>
                    <a:pt x="4173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8251" y="95250"/>
              <a:ext cx="678171" cy="641350"/>
            </a:xfrm>
            <a:prstGeom prst="rect">
              <a:avLst/>
            </a:prstGeom>
          </p:spPr>
          <p:txBody>
            <a:bodyPr anchor="ctr" rtlCol="false" tIns="42119" lIns="42119" bIns="42119" rIns="42119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560734" y="5436957"/>
            <a:ext cx="2150594" cy="628102"/>
            <a:chOff x="0" y="0"/>
            <a:chExt cx="610599" cy="1783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0599" cy="178332"/>
            </a:xfrm>
            <a:custGeom>
              <a:avLst/>
              <a:gdLst/>
              <a:ahLst/>
              <a:cxnLst/>
              <a:rect r="r" b="b" t="t" l="l"/>
              <a:pathLst>
                <a:path h="178332" w="610599">
                  <a:moveTo>
                    <a:pt x="28799" y="0"/>
                  </a:moveTo>
                  <a:lnTo>
                    <a:pt x="581800" y="0"/>
                  </a:lnTo>
                  <a:cubicBezTo>
                    <a:pt x="589438" y="0"/>
                    <a:pt x="596763" y="3034"/>
                    <a:pt x="602164" y="8435"/>
                  </a:cubicBezTo>
                  <a:cubicBezTo>
                    <a:pt x="607565" y="13836"/>
                    <a:pt x="610599" y="21161"/>
                    <a:pt x="610599" y="28799"/>
                  </a:cubicBezTo>
                  <a:lnTo>
                    <a:pt x="610599" y="149532"/>
                  </a:lnTo>
                  <a:cubicBezTo>
                    <a:pt x="610599" y="157170"/>
                    <a:pt x="607565" y="164496"/>
                    <a:pt x="602164" y="169896"/>
                  </a:cubicBezTo>
                  <a:cubicBezTo>
                    <a:pt x="596763" y="175297"/>
                    <a:pt x="589438" y="178332"/>
                    <a:pt x="581800" y="178332"/>
                  </a:cubicBezTo>
                  <a:lnTo>
                    <a:pt x="28799" y="178332"/>
                  </a:lnTo>
                  <a:cubicBezTo>
                    <a:pt x="21161" y="178332"/>
                    <a:pt x="13836" y="175297"/>
                    <a:pt x="8435" y="169896"/>
                  </a:cubicBezTo>
                  <a:cubicBezTo>
                    <a:pt x="3034" y="164496"/>
                    <a:pt x="0" y="157170"/>
                    <a:pt x="0" y="149532"/>
                  </a:cubicBezTo>
                  <a:lnTo>
                    <a:pt x="0" y="28799"/>
                  </a:lnTo>
                  <a:cubicBezTo>
                    <a:pt x="0" y="21161"/>
                    <a:pt x="3034" y="13836"/>
                    <a:pt x="8435" y="8435"/>
                  </a:cubicBezTo>
                  <a:cubicBezTo>
                    <a:pt x="13836" y="3034"/>
                    <a:pt x="21161" y="0"/>
                    <a:pt x="28799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10599" cy="216432"/>
            </a:xfrm>
            <a:prstGeom prst="rect">
              <a:avLst/>
            </a:prstGeom>
          </p:spPr>
          <p:txBody>
            <a:bodyPr anchor="ctr" rtlCol="false" tIns="50504" lIns="50504" bIns="50504" rIns="50504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05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5674610" y="6914062"/>
            <a:ext cx="192284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</a:t>
            </a:r>
            <a:r>
              <a:rPr lang="en-US" sz="1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raud risk is not driven by volume, but by payment method and controls.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72045" y="1876352"/>
            <a:ext cx="1388868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dashboards reveal several important insights: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335812" y="3436291"/>
            <a:ext cx="2673144" cy="267314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/>
            </a:soli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4554" y="3436291"/>
            <a:ext cx="2673144" cy="26731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14977" y="4050045"/>
            <a:ext cx="1612299" cy="1201895"/>
          </a:xfrm>
          <a:custGeom>
            <a:avLst/>
            <a:gdLst/>
            <a:ahLst/>
            <a:cxnLst/>
            <a:rect r="r" b="b" t="t" l="l"/>
            <a:pathLst>
              <a:path h="1201895" w="1612299">
                <a:moveTo>
                  <a:pt x="0" y="0"/>
                </a:moveTo>
                <a:lnTo>
                  <a:pt x="1612299" y="0"/>
                </a:lnTo>
                <a:lnTo>
                  <a:pt x="1612299" y="1201896"/>
                </a:lnTo>
                <a:lnTo>
                  <a:pt x="0" y="1201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433296" y="3436291"/>
            <a:ext cx="2673144" cy="26731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01618" y="4004613"/>
            <a:ext cx="1536502" cy="1536502"/>
          </a:xfrm>
          <a:custGeom>
            <a:avLst/>
            <a:gdLst/>
            <a:ahLst/>
            <a:cxnLst/>
            <a:rect r="r" b="b" t="t" l="l"/>
            <a:pathLst>
              <a:path h="1536502" w="1536502">
                <a:moveTo>
                  <a:pt x="0" y="0"/>
                </a:moveTo>
                <a:lnTo>
                  <a:pt x="1536502" y="0"/>
                </a:lnTo>
                <a:lnTo>
                  <a:pt x="1536502" y="1536502"/>
                </a:lnTo>
                <a:lnTo>
                  <a:pt x="0" y="153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482039" y="3436291"/>
            <a:ext cx="2673144" cy="26731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388276" y="4293786"/>
            <a:ext cx="958154" cy="958154"/>
          </a:xfrm>
          <a:custGeom>
            <a:avLst/>
            <a:gdLst/>
            <a:ahLst/>
            <a:cxnLst/>
            <a:rect r="r" b="b" t="t" l="l"/>
            <a:pathLst>
              <a:path h="958154" w="958154">
                <a:moveTo>
                  <a:pt x="0" y="0"/>
                </a:moveTo>
                <a:lnTo>
                  <a:pt x="958155" y="0"/>
                </a:lnTo>
                <a:lnTo>
                  <a:pt x="958155" y="958155"/>
                </a:lnTo>
                <a:lnTo>
                  <a:pt x="0" y="95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76040" y="4076520"/>
            <a:ext cx="1392688" cy="1392688"/>
          </a:xfrm>
          <a:custGeom>
            <a:avLst/>
            <a:gdLst/>
            <a:ahLst/>
            <a:cxnLst/>
            <a:rect r="r" b="b" t="t" l="l"/>
            <a:pathLst>
              <a:path h="1392688" w="1392688">
                <a:moveTo>
                  <a:pt x="0" y="0"/>
                </a:moveTo>
                <a:lnTo>
                  <a:pt x="1392688" y="0"/>
                </a:lnTo>
                <a:lnTo>
                  <a:pt x="1392688" y="1392687"/>
                </a:lnTo>
                <a:lnTo>
                  <a:pt x="0" y="139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68558" y="3995669"/>
            <a:ext cx="1300106" cy="1545445"/>
          </a:xfrm>
          <a:custGeom>
            <a:avLst/>
            <a:gdLst/>
            <a:ahLst/>
            <a:cxnLst/>
            <a:rect r="r" b="b" t="t" l="l"/>
            <a:pathLst>
              <a:path h="1545445" w="1300106">
                <a:moveTo>
                  <a:pt x="0" y="0"/>
                </a:moveTo>
                <a:lnTo>
                  <a:pt x="1300106" y="0"/>
                </a:lnTo>
                <a:lnTo>
                  <a:pt x="1300106" y="1545446"/>
                </a:lnTo>
                <a:lnTo>
                  <a:pt x="0" y="1545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1785258" y="5311324"/>
            <a:ext cx="6437539" cy="9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07521" y="7023836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</a:t>
            </a: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oritize optimization of the most frequently used </a:t>
            </a:r>
            <a:r>
              <a:rPr lang="en-US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</a:t>
            </a: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7521" y="9610725"/>
            <a:ext cx="15195135" cy="37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6787" indent="-288393" lvl="1">
              <a:lnSpc>
                <a:spcPts val="2938"/>
              </a:lnSpc>
              <a:buFont typeface="Arial"/>
              <a:buChar char="•"/>
            </a:pP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</a:t>
            </a: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stigate causes of failed transactions to improve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07521" y="8656823"/>
            <a:ext cx="13988143" cy="76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 marketing and partnerships on high-volume, low-fraud countries countries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7521" y="7840329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trengthen fraud d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ection in high-risk regions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335812" y="3436291"/>
            <a:ext cx="2673144" cy="267314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4554" y="3436291"/>
            <a:ext cx="2673144" cy="26731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/>
            </a:soli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14977" y="4050045"/>
            <a:ext cx="1612299" cy="1201895"/>
          </a:xfrm>
          <a:custGeom>
            <a:avLst/>
            <a:gdLst/>
            <a:ahLst/>
            <a:cxnLst/>
            <a:rect r="r" b="b" t="t" l="l"/>
            <a:pathLst>
              <a:path h="1201895" w="1612299">
                <a:moveTo>
                  <a:pt x="0" y="0"/>
                </a:moveTo>
                <a:lnTo>
                  <a:pt x="1612299" y="0"/>
                </a:lnTo>
                <a:lnTo>
                  <a:pt x="1612299" y="1201896"/>
                </a:lnTo>
                <a:lnTo>
                  <a:pt x="0" y="1201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433296" y="3436291"/>
            <a:ext cx="2673144" cy="26731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01618" y="4004613"/>
            <a:ext cx="1536502" cy="1536502"/>
          </a:xfrm>
          <a:custGeom>
            <a:avLst/>
            <a:gdLst/>
            <a:ahLst/>
            <a:cxnLst/>
            <a:rect r="r" b="b" t="t" l="l"/>
            <a:pathLst>
              <a:path h="1536502" w="1536502">
                <a:moveTo>
                  <a:pt x="0" y="0"/>
                </a:moveTo>
                <a:lnTo>
                  <a:pt x="1536502" y="0"/>
                </a:lnTo>
                <a:lnTo>
                  <a:pt x="1536502" y="1536502"/>
                </a:lnTo>
                <a:lnTo>
                  <a:pt x="0" y="153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482039" y="3436291"/>
            <a:ext cx="2673144" cy="26731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388276" y="4293786"/>
            <a:ext cx="958154" cy="958154"/>
          </a:xfrm>
          <a:custGeom>
            <a:avLst/>
            <a:gdLst/>
            <a:ahLst/>
            <a:cxnLst/>
            <a:rect r="r" b="b" t="t" l="l"/>
            <a:pathLst>
              <a:path h="958154" w="958154">
                <a:moveTo>
                  <a:pt x="0" y="0"/>
                </a:moveTo>
                <a:lnTo>
                  <a:pt x="958155" y="0"/>
                </a:lnTo>
                <a:lnTo>
                  <a:pt x="958155" y="958155"/>
                </a:lnTo>
                <a:lnTo>
                  <a:pt x="0" y="95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76040" y="4076520"/>
            <a:ext cx="1392688" cy="1392688"/>
          </a:xfrm>
          <a:custGeom>
            <a:avLst/>
            <a:gdLst/>
            <a:ahLst/>
            <a:cxnLst/>
            <a:rect r="r" b="b" t="t" l="l"/>
            <a:pathLst>
              <a:path h="1392688" w="1392688">
                <a:moveTo>
                  <a:pt x="0" y="0"/>
                </a:moveTo>
                <a:lnTo>
                  <a:pt x="1392688" y="0"/>
                </a:lnTo>
                <a:lnTo>
                  <a:pt x="1392688" y="1392687"/>
                </a:lnTo>
                <a:lnTo>
                  <a:pt x="0" y="139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68558" y="3995669"/>
            <a:ext cx="1300106" cy="1545445"/>
          </a:xfrm>
          <a:custGeom>
            <a:avLst/>
            <a:gdLst/>
            <a:ahLst/>
            <a:cxnLst/>
            <a:rect r="r" b="b" t="t" l="l"/>
            <a:pathLst>
              <a:path h="1545445" w="1300106">
                <a:moveTo>
                  <a:pt x="0" y="0"/>
                </a:moveTo>
                <a:lnTo>
                  <a:pt x="1300106" y="0"/>
                </a:lnTo>
                <a:lnTo>
                  <a:pt x="1300106" y="1545446"/>
                </a:lnTo>
                <a:lnTo>
                  <a:pt x="0" y="1545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1785258" y="5311324"/>
            <a:ext cx="6437539" cy="9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07521" y="7023836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oritize optimization of the most frequently used </a:t>
            </a:r>
            <a:r>
              <a:rPr lang="en-US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7521" y="9610725"/>
            <a:ext cx="15195135" cy="37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6787" indent="-288393" lvl="1">
              <a:lnSpc>
                <a:spcPts val="2938"/>
              </a:lnSpc>
              <a:buFont typeface="Arial"/>
              <a:buChar char="•"/>
            </a:pP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</a:t>
            </a: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stigate causes of failed transactions to improve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07521" y="8656823"/>
            <a:ext cx="13988143" cy="76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 marketing and partnerships on high-volume, low-fraud countries countries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7521" y="7840329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trengthen fraud d</a:t>
            </a: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</a:t>
            </a: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ection in high-risk regions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335812" y="3436291"/>
            <a:ext cx="2673144" cy="267314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4554" y="3436291"/>
            <a:ext cx="2673144" cy="26731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14977" y="4050045"/>
            <a:ext cx="1612299" cy="1201895"/>
          </a:xfrm>
          <a:custGeom>
            <a:avLst/>
            <a:gdLst/>
            <a:ahLst/>
            <a:cxnLst/>
            <a:rect r="r" b="b" t="t" l="l"/>
            <a:pathLst>
              <a:path h="1201895" w="1612299">
                <a:moveTo>
                  <a:pt x="0" y="0"/>
                </a:moveTo>
                <a:lnTo>
                  <a:pt x="1612299" y="0"/>
                </a:lnTo>
                <a:lnTo>
                  <a:pt x="1612299" y="1201896"/>
                </a:lnTo>
                <a:lnTo>
                  <a:pt x="0" y="1201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433296" y="3436291"/>
            <a:ext cx="2673144" cy="26731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/>
            </a:soli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01618" y="4004613"/>
            <a:ext cx="1536502" cy="1536502"/>
          </a:xfrm>
          <a:custGeom>
            <a:avLst/>
            <a:gdLst/>
            <a:ahLst/>
            <a:cxnLst/>
            <a:rect r="r" b="b" t="t" l="l"/>
            <a:pathLst>
              <a:path h="1536502" w="1536502">
                <a:moveTo>
                  <a:pt x="0" y="0"/>
                </a:moveTo>
                <a:lnTo>
                  <a:pt x="1536502" y="0"/>
                </a:lnTo>
                <a:lnTo>
                  <a:pt x="1536502" y="1536502"/>
                </a:lnTo>
                <a:lnTo>
                  <a:pt x="0" y="153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482039" y="3436291"/>
            <a:ext cx="2673144" cy="26731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388276" y="4293786"/>
            <a:ext cx="958154" cy="958154"/>
          </a:xfrm>
          <a:custGeom>
            <a:avLst/>
            <a:gdLst/>
            <a:ahLst/>
            <a:cxnLst/>
            <a:rect r="r" b="b" t="t" l="l"/>
            <a:pathLst>
              <a:path h="958154" w="958154">
                <a:moveTo>
                  <a:pt x="0" y="0"/>
                </a:moveTo>
                <a:lnTo>
                  <a:pt x="958155" y="0"/>
                </a:lnTo>
                <a:lnTo>
                  <a:pt x="958155" y="958155"/>
                </a:lnTo>
                <a:lnTo>
                  <a:pt x="0" y="95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76040" y="4076520"/>
            <a:ext cx="1392688" cy="1392688"/>
          </a:xfrm>
          <a:custGeom>
            <a:avLst/>
            <a:gdLst/>
            <a:ahLst/>
            <a:cxnLst/>
            <a:rect r="r" b="b" t="t" l="l"/>
            <a:pathLst>
              <a:path h="1392688" w="1392688">
                <a:moveTo>
                  <a:pt x="0" y="0"/>
                </a:moveTo>
                <a:lnTo>
                  <a:pt x="1392688" y="0"/>
                </a:lnTo>
                <a:lnTo>
                  <a:pt x="1392688" y="1392687"/>
                </a:lnTo>
                <a:lnTo>
                  <a:pt x="0" y="139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68558" y="3995669"/>
            <a:ext cx="1300106" cy="1545445"/>
          </a:xfrm>
          <a:custGeom>
            <a:avLst/>
            <a:gdLst/>
            <a:ahLst/>
            <a:cxnLst/>
            <a:rect r="r" b="b" t="t" l="l"/>
            <a:pathLst>
              <a:path h="1545445" w="1300106">
                <a:moveTo>
                  <a:pt x="0" y="0"/>
                </a:moveTo>
                <a:lnTo>
                  <a:pt x="1300106" y="0"/>
                </a:lnTo>
                <a:lnTo>
                  <a:pt x="1300106" y="1545446"/>
                </a:lnTo>
                <a:lnTo>
                  <a:pt x="0" y="1545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1785258" y="5311324"/>
            <a:ext cx="6437539" cy="9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07521" y="7023836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oritize optimization of the most frequently used </a:t>
            </a:r>
            <a:r>
              <a:rPr lang="en-US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7521" y="9610725"/>
            <a:ext cx="15195135" cy="37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6787" indent="-288393" lvl="1">
              <a:lnSpc>
                <a:spcPts val="2938"/>
              </a:lnSpc>
              <a:buFont typeface="Arial"/>
              <a:buChar char="•"/>
            </a:pP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</a:t>
            </a:r>
            <a:r>
              <a:rPr lang="en-US" sz="2671">
                <a:solidFill>
                  <a:srgbClr val="000000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stigate causes of failed transactions to improve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07521" y="8656823"/>
            <a:ext cx="13988143" cy="76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 marketing and partnerships on high-volume, low-fraud countries countries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7521" y="7840329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trengthen fraud d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ection in high-risk regions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335812" y="3436291"/>
            <a:ext cx="2673144" cy="267314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84554" y="3436291"/>
            <a:ext cx="2673144" cy="26731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14977" y="4050045"/>
            <a:ext cx="1612299" cy="1201895"/>
          </a:xfrm>
          <a:custGeom>
            <a:avLst/>
            <a:gdLst/>
            <a:ahLst/>
            <a:cxnLst/>
            <a:rect r="r" b="b" t="t" l="l"/>
            <a:pathLst>
              <a:path h="1201895" w="1612299">
                <a:moveTo>
                  <a:pt x="0" y="0"/>
                </a:moveTo>
                <a:lnTo>
                  <a:pt x="1612299" y="0"/>
                </a:lnTo>
                <a:lnTo>
                  <a:pt x="1612299" y="1201896"/>
                </a:lnTo>
                <a:lnTo>
                  <a:pt x="0" y="1201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433296" y="3436291"/>
            <a:ext cx="2673144" cy="26731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68DB">
                <a:alpha val="19608"/>
              </a:srgbClr>
            </a:solidFill>
            <a:ln w="142875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001618" y="4004613"/>
            <a:ext cx="1536502" cy="1536502"/>
          </a:xfrm>
          <a:custGeom>
            <a:avLst/>
            <a:gdLst/>
            <a:ahLst/>
            <a:cxnLst/>
            <a:rect r="r" b="b" t="t" l="l"/>
            <a:pathLst>
              <a:path h="1536502" w="1536502">
                <a:moveTo>
                  <a:pt x="0" y="0"/>
                </a:moveTo>
                <a:lnTo>
                  <a:pt x="1536502" y="0"/>
                </a:lnTo>
                <a:lnTo>
                  <a:pt x="1536502" y="1536502"/>
                </a:lnTo>
                <a:lnTo>
                  <a:pt x="0" y="1536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482039" y="3436291"/>
            <a:ext cx="2673144" cy="26731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2B7F"/>
            </a:soli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44002" lIns="44002" bIns="44002" rIns="44002"/>
            <a:lstStyle/>
            <a:p>
              <a:pPr algn="ctr">
                <a:lnSpc>
                  <a:spcPts val="17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388276" y="4293786"/>
            <a:ext cx="958154" cy="958154"/>
          </a:xfrm>
          <a:custGeom>
            <a:avLst/>
            <a:gdLst/>
            <a:ahLst/>
            <a:cxnLst/>
            <a:rect r="r" b="b" t="t" l="l"/>
            <a:pathLst>
              <a:path h="958154" w="958154">
                <a:moveTo>
                  <a:pt x="0" y="0"/>
                </a:moveTo>
                <a:lnTo>
                  <a:pt x="958155" y="0"/>
                </a:lnTo>
                <a:lnTo>
                  <a:pt x="958155" y="958155"/>
                </a:lnTo>
                <a:lnTo>
                  <a:pt x="0" y="95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76040" y="4076520"/>
            <a:ext cx="1392688" cy="1392688"/>
          </a:xfrm>
          <a:custGeom>
            <a:avLst/>
            <a:gdLst/>
            <a:ahLst/>
            <a:cxnLst/>
            <a:rect r="r" b="b" t="t" l="l"/>
            <a:pathLst>
              <a:path h="1392688" w="1392688">
                <a:moveTo>
                  <a:pt x="0" y="0"/>
                </a:moveTo>
                <a:lnTo>
                  <a:pt x="1392688" y="0"/>
                </a:lnTo>
                <a:lnTo>
                  <a:pt x="1392688" y="1392687"/>
                </a:lnTo>
                <a:lnTo>
                  <a:pt x="0" y="139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68558" y="3995669"/>
            <a:ext cx="1300106" cy="1545445"/>
          </a:xfrm>
          <a:custGeom>
            <a:avLst/>
            <a:gdLst/>
            <a:ahLst/>
            <a:cxnLst/>
            <a:rect r="r" b="b" t="t" l="l"/>
            <a:pathLst>
              <a:path h="1545445" w="1300106">
                <a:moveTo>
                  <a:pt x="0" y="0"/>
                </a:moveTo>
                <a:lnTo>
                  <a:pt x="1300106" y="0"/>
                </a:lnTo>
                <a:lnTo>
                  <a:pt x="1300106" y="1545446"/>
                </a:lnTo>
                <a:lnTo>
                  <a:pt x="0" y="1545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1785258" y="5311324"/>
            <a:ext cx="6437539" cy="9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07521" y="7023836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oritize optimization of the most frequently used </a:t>
            </a:r>
            <a:r>
              <a:rPr lang="en-US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7521" y="9610725"/>
            <a:ext cx="15195135" cy="37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6787" indent="-288393" lvl="1">
              <a:lnSpc>
                <a:spcPts val="2938"/>
              </a:lnSpc>
              <a:buFont typeface="Arial"/>
              <a:buChar char="•"/>
            </a:pPr>
            <a:r>
              <a:rPr lang="en-US" sz="267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</a:t>
            </a:r>
            <a:r>
              <a:rPr lang="en-US" sz="267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stigate causes of failed transactions to improve reliability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07521" y="8656823"/>
            <a:ext cx="13988143" cy="76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 marketing and partnerships on high-volume, low-fraud countries countries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07521" y="7840329"/>
            <a:ext cx="13988143" cy="3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2962" indent="-301481" lvl="1">
              <a:lnSpc>
                <a:spcPts val="3072"/>
              </a:lnSpc>
              <a:buFont typeface="Arial"/>
              <a:buChar char="•"/>
            </a:pP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trengthen fraud d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</a:t>
            </a:r>
            <a:r>
              <a:rPr lang="en-US" b="true" sz="2792">
                <a:solidFill>
                  <a:srgbClr val="0E0F13">
                    <a:alpha val="25882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ection in high-risk regions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101424" y="2589443"/>
            <a:ext cx="6540393" cy="6322058"/>
            <a:chOff x="0" y="0"/>
            <a:chExt cx="1722573" cy="1665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2573" cy="1665069"/>
            </a:xfrm>
            <a:custGeom>
              <a:avLst/>
              <a:gdLst/>
              <a:ahLst/>
              <a:cxnLst/>
              <a:rect r="r" b="b" t="t" l="l"/>
              <a:pathLst>
                <a:path h="1665069" w="1722573">
                  <a:moveTo>
                    <a:pt x="26042" y="0"/>
                  </a:moveTo>
                  <a:lnTo>
                    <a:pt x="1696531" y="0"/>
                  </a:lnTo>
                  <a:cubicBezTo>
                    <a:pt x="1703438" y="0"/>
                    <a:pt x="1710062" y="2744"/>
                    <a:pt x="1714945" y="7627"/>
                  </a:cubicBezTo>
                  <a:cubicBezTo>
                    <a:pt x="1719829" y="12511"/>
                    <a:pt x="1722573" y="19135"/>
                    <a:pt x="1722573" y="26042"/>
                  </a:cubicBezTo>
                  <a:lnTo>
                    <a:pt x="1722573" y="1639027"/>
                  </a:lnTo>
                  <a:cubicBezTo>
                    <a:pt x="1722573" y="1653410"/>
                    <a:pt x="1710913" y="1665069"/>
                    <a:pt x="1696531" y="1665069"/>
                  </a:cubicBezTo>
                  <a:lnTo>
                    <a:pt x="26042" y="1665069"/>
                  </a:lnTo>
                  <a:cubicBezTo>
                    <a:pt x="11659" y="1665069"/>
                    <a:pt x="0" y="1653410"/>
                    <a:pt x="0" y="1639027"/>
                  </a:cubicBezTo>
                  <a:lnTo>
                    <a:pt x="0" y="26042"/>
                  </a:lnTo>
                  <a:cubicBezTo>
                    <a:pt x="0" y="11659"/>
                    <a:pt x="11659" y="0"/>
                    <a:pt x="26042" y="0"/>
                  </a:cubicBezTo>
                  <a:close/>
                </a:path>
              </a:pathLst>
            </a:custGeom>
            <a:solidFill>
              <a:srgbClr val="2468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22573" cy="171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57324" y="2589443"/>
            <a:ext cx="6585738" cy="6322058"/>
            <a:chOff x="0" y="0"/>
            <a:chExt cx="1734515" cy="16650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4515" cy="1665069"/>
            </a:xfrm>
            <a:custGeom>
              <a:avLst/>
              <a:gdLst/>
              <a:ahLst/>
              <a:cxnLst/>
              <a:rect r="r" b="b" t="t" l="l"/>
              <a:pathLst>
                <a:path h="1665069" w="1734515">
                  <a:moveTo>
                    <a:pt x="25862" y="0"/>
                  </a:moveTo>
                  <a:lnTo>
                    <a:pt x="1708653" y="0"/>
                  </a:lnTo>
                  <a:cubicBezTo>
                    <a:pt x="1715512" y="0"/>
                    <a:pt x="1722090" y="2725"/>
                    <a:pt x="1726940" y="7575"/>
                  </a:cubicBezTo>
                  <a:cubicBezTo>
                    <a:pt x="1731790" y="12425"/>
                    <a:pt x="1734515" y="19003"/>
                    <a:pt x="1734515" y="25862"/>
                  </a:cubicBezTo>
                  <a:lnTo>
                    <a:pt x="1734515" y="1639207"/>
                  </a:lnTo>
                  <a:cubicBezTo>
                    <a:pt x="1734515" y="1646066"/>
                    <a:pt x="1731790" y="1652644"/>
                    <a:pt x="1726940" y="1657494"/>
                  </a:cubicBezTo>
                  <a:cubicBezTo>
                    <a:pt x="1722090" y="1662344"/>
                    <a:pt x="1715512" y="1665069"/>
                    <a:pt x="1708653" y="1665069"/>
                  </a:cubicBezTo>
                  <a:lnTo>
                    <a:pt x="25862" y="1665069"/>
                  </a:lnTo>
                  <a:cubicBezTo>
                    <a:pt x="11579" y="1665069"/>
                    <a:pt x="0" y="1653490"/>
                    <a:pt x="0" y="1639207"/>
                  </a:cubicBezTo>
                  <a:lnTo>
                    <a:pt x="0" y="25862"/>
                  </a:lnTo>
                  <a:cubicBezTo>
                    <a:pt x="0" y="19003"/>
                    <a:pt x="2725" y="12425"/>
                    <a:pt x="7575" y="7575"/>
                  </a:cubicBezTo>
                  <a:cubicBezTo>
                    <a:pt x="12425" y="2725"/>
                    <a:pt x="19003" y="0"/>
                    <a:pt x="25862" y="0"/>
                  </a:cubicBezTo>
                  <a:close/>
                </a:path>
              </a:pathLst>
            </a:custGeom>
            <a:solidFill>
              <a:srgbClr val="0C2B7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34515" cy="171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54106" y="7158292"/>
            <a:ext cx="3817515" cy="2338228"/>
          </a:xfrm>
          <a:custGeom>
            <a:avLst/>
            <a:gdLst/>
            <a:ahLst/>
            <a:cxnLst/>
            <a:rect r="r" b="b" t="t" l="l"/>
            <a:pathLst>
              <a:path h="2338228" w="3817515">
                <a:moveTo>
                  <a:pt x="0" y="0"/>
                </a:moveTo>
                <a:lnTo>
                  <a:pt x="3817514" y="0"/>
                </a:lnTo>
                <a:lnTo>
                  <a:pt x="3817514" y="2338228"/>
                </a:lnTo>
                <a:lnTo>
                  <a:pt x="0" y="233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57575" y="7026544"/>
            <a:ext cx="2601725" cy="2601725"/>
          </a:xfrm>
          <a:custGeom>
            <a:avLst/>
            <a:gdLst/>
            <a:ahLst/>
            <a:cxnLst/>
            <a:rect r="r" b="b" t="t" l="l"/>
            <a:pathLst>
              <a:path h="2601725" w="2601725">
                <a:moveTo>
                  <a:pt x="0" y="0"/>
                </a:moveTo>
                <a:lnTo>
                  <a:pt x="2601725" y="0"/>
                </a:lnTo>
                <a:lnTo>
                  <a:pt x="2601725" y="2601725"/>
                </a:lnTo>
                <a:lnTo>
                  <a:pt x="0" y="2601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-1785258" y="5311324"/>
            <a:ext cx="6437539" cy="9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and future improvements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2341" y="3215771"/>
            <a:ext cx="6381080" cy="381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3103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:</a:t>
            </a:r>
          </a:p>
          <a:p>
            <a:pPr algn="l" marL="670061" indent="-335030" lvl="1">
              <a:lnSpc>
                <a:spcPts val="4344"/>
              </a:lnSpc>
              <a:buFont typeface="Arial"/>
              <a:buChar char="•"/>
            </a:pPr>
            <a:r>
              <a:rPr lang="en-US" b="true" sz="3103" spc="-9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dataset is simulated and not real-time</a:t>
            </a:r>
          </a:p>
          <a:p>
            <a:pPr algn="l" marL="670061" indent="-335030" lvl="1">
              <a:lnSpc>
                <a:spcPts val="4344"/>
              </a:lnSpc>
              <a:buFont typeface="Arial"/>
              <a:buChar char="•"/>
            </a:pPr>
            <a:r>
              <a:rPr lang="en-US" b="true" sz="3103" spc="-9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Limited historical data restricts long-term trend analysis</a:t>
            </a:r>
          </a:p>
          <a:p>
            <a:pPr algn="l">
              <a:lnSpc>
                <a:spcPts val="434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125672" y="2767102"/>
            <a:ext cx="6249041" cy="541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Improvements: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 of real-time transaction data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Advanced fraud prediction models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Forecasting transaction volume and revenue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Drill-through and alert-based dashboards</a:t>
            </a:r>
          </a:p>
          <a:p>
            <a:pPr algn="l">
              <a:lnSpc>
                <a:spcPts val="4340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47352" y="9223201"/>
            <a:ext cx="886597" cy="0"/>
          </a:xfrm>
          <a:prstGeom prst="line">
            <a:avLst/>
          </a:prstGeom>
          <a:ln cap="flat" w="38100">
            <a:solidFill>
              <a:srgbClr val="0C2B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2468DB"/>
                </a:solidFill>
                <a:latin typeface="Proxima Nova"/>
                <a:ea typeface="Proxima Nova"/>
                <a:cs typeface="Proxima Nova"/>
                <a:sym typeface="Proxima Nova"/>
              </a:rPr>
              <a:t>paypal insights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1785258" y="5549450"/>
            <a:ext cx="6437539" cy="51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sz="4000" spc="-200">
                <a:solidFill>
                  <a:srgbClr val="2468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948957" y="2299537"/>
            <a:ext cx="3310343" cy="6727445"/>
            <a:chOff x="0" y="0"/>
            <a:chExt cx="5001260" cy="10163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33003" t="0" r="-3167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93986" y="2962857"/>
            <a:ext cx="10964751" cy="534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6"/>
              </a:lnSpc>
              <a:spcBef>
                <a:spcPct val="0"/>
              </a:spcBef>
            </a:pPr>
            <a:r>
              <a:rPr lang="en-US" sz="3461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Business Intelligence pr</a:t>
            </a:r>
            <a:r>
              <a:rPr lang="en-US" sz="3461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oject demonstrates how data can be transformed into meaningful insights through structured ETL processes, dimensional modeling, and interactive dashboards.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3278">
                <a:solidFill>
                  <a:srgbClr val="19191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The proposed BI solution supports informed decision-making, enhances performance monitoring, and contributes to improved operational efficiency and security.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7032" y="4523901"/>
            <a:ext cx="76739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DAG_ckVCgZw</dc:identifier>
  <dcterms:modified xsi:type="dcterms:W3CDTF">2011-08-01T06:04:30Z</dcterms:modified>
  <cp:revision>1</cp:revision>
  <dc:title>PayPal Insights</dc:title>
</cp:coreProperties>
</file>